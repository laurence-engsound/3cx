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【開場 — 約 1 分鐘】</a:t>
            </a:r>
          </a:p>
          <a:p/>
          <a:p>
            <a:r>
              <a:t>開場白：「謝謝玉山給瑛聲這個機會。今天這場簡報，我希望用『顧問』而不是『廠商』的身分跟各位談 — 因為 Copilot Phase II 已經證明我們是長期夥伴，所以我們對玉山真正需要什麼，會給最直白的建議。」</a:t>
            </a:r>
          </a:p>
          <a:p/>
          <a:p>
            <a:r>
              <a:t>要傳達的訊息：</a:t>
            </a:r>
          </a:p>
          <a:p>
            <a:r>
              <a:t>• 諮詢式建議，不是 vendor sales pitch</a:t>
            </a:r>
          </a:p>
          <a:p>
            <a:r>
              <a:t>• 瑛聲已經是玉山的長期 partner（Copilot Phase II），不是 cold call</a:t>
            </a:r>
          </a:p>
          <a:p>
            <a:r>
              <a:t>• 這場主題：Outreach（450 席外撥）的 Genesys 替代方案</a:t>
            </a:r>
          </a:p>
          <a:p/>
          <a:p>
            <a:r>
              <a:t>避免：吹噓 VOXEN 多強、不要急著進產品介紹。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【議程帶過 — 約 30 秒】</a:t>
            </a:r>
          </a:p>
          <a:p/>
          <a:p>
            <a:r>
              <a:t>帶過五大段：</a:t>
            </a:r>
          </a:p>
          <a:p>
            <a:r>
              <a:t>1. 案件緣起（壹）— 為什麼現在要做</a:t>
            </a:r>
          </a:p>
          <a:p>
            <a:r>
              <a:t>2. 解決方案 Overview（貳/參）— VOXEN+3CX+沿用既有資產</a:t>
            </a:r>
          </a:p>
          <a:p>
            <a:r>
              <a:t>3. **Why 3CX（肆）— 本場核心**，這是全場的重點，預計 25-30 分鐘</a:t>
            </a:r>
          </a:p>
          <a:p>
            <a:r>
              <a:t>4. Migration Strategy + 時程 + 商業條款（伍/陸/柒）</a:t>
            </a:r>
          </a:p>
          <a:p>
            <a:r>
              <a:t>5. Demo + 下一步（玖）</a:t>
            </a:r>
          </a:p>
          <a:p/>
          <a:p>
            <a:r>
              <a:t>預告：Q&amp;A 我們有兩種方式 — 第 18-19 頁有預先準備的硬問題答案，會議最後也保留時間。</a:t>
            </a:r>
          </a:p>
          <a:p/>
          <a:p>
            <a:r>
              <a:t>提醒：「Why 3CX」會花最多時間，因為我猜玉山 IT 內部已經有『為什麼不自建？為什麼是 3CX 不是別家？』的疑問，今天一次說清楚。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【章節分隔 — 5 秒帶過】</a:t>
            </a:r>
          </a:p>
          <a:p/>
          <a:p>
            <a:r>
              <a:t>「先談緣起，為什麼這個案子要在 2026 上半年發生。」</a:t>
            </a:r>
          </a:p>
          <a:p/>
          <a:p>
            <a:r>
              <a:t>直接翻下一頁。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【4 大驅動 — 約 2 分鐘】</a:t>
            </a:r>
          </a:p>
          <a:p/>
          <a:p>
            <a:r>
              <a:t>四個 driver，每個 30 秒：</a:t>
            </a:r>
          </a:p>
          <a:p/>
          <a:p>
            <a:r>
              <a:t>1. **Genesys 11/01 EOL（硬期限）**</a:t>
            </a:r>
          </a:p>
          <a:p>
            <a:r>
              <a:t>   - 原廠停止支援，安全更新中斷</a:t>
            </a:r>
          </a:p>
          <a:p>
            <a:r>
              <a:t>   - 出問題只能找第三方，no SLA</a:t>
            </a:r>
          </a:p>
          <a:p>
            <a:r>
              <a:t>   - 這是時程的源頭</a:t>
            </a:r>
          </a:p>
          <a:p/>
          <a:p>
            <a:r>
              <a:t>2. **現有外撥的痛點**（玉山內部應該都聽過）</a:t>
            </a:r>
          </a:p>
          <a:p>
            <a:r>
              <a:t>   - 沒有 Whisper / Barge-in / Take-over → 主管無法即時介入新人通話</a:t>
            </a:r>
          </a:p>
          <a:p>
            <a:r>
              <a:t>   - 錄音管理介面陽春 → 法遵稽核費時</a:t>
            </a:r>
          </a:p>
          <a:p>
            <a:r>
              <a:t>   - 自動撥號上限受授權限制 → 旺季開不滿座席</a:t>
            </a:r>
          </a:p>
          <a:p/>
          <a:p>
            <a:r>
              <a:t>3. **監理趨勢加嚴**</a:t>
            </a:r>
          </a:p>
          <a:p>
            <a:r>
              <a:t>   - 個資法修正、金管會 H113-04 銀行通話錄音指引</a:t>
            </a:r>
          </a:p>
          <a:p>
            <a:r>
              <a:t>   - 保管年限、PCI Pause-Resume（信用卡卡號回報時段不錄）</a:t>
            </a:r>
          </a:p>
          <a:p/>
          <a:p>
            <a:r>
              <a:t>4. **AI 浪潮**</a:t>
            </a:r>
          </a:p>
          <a:p>
            <a:r>
              <a:t>   - 玉山 Copilot Phase II 已經驗證 AI 對坐席品質的提升</a:t>
            </a:r>
          </a:p>
          <a:p>
            <a:r>
              <a:t>   - 同樣的 AI 能力要延伸到 Outreach 場景，需要新的事件骨幹</a:t>
            </a:r>
          </a:p>
          <a:p/>
          <a:p>
            <a:r>
              <a:t>要強調：這四件事是「同時發生」，所以才需要一個整體方案。</a:t>
            </a:r>
          </a:p>
          <a:p/>
          <a:p>
            <a:r>
              <a:t>可能追問：「Genesys EOL 不能再延嗎？」</a:t>
            </a:r>
          </a:p>
          <a:p>
            <a:r>
              <a:t>答：原廠公告已經發布兩年，沒有再延的空間。即使有，也只能買最多一年的 Extended Support，價格會跳到原本年費的 200-300%。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【決策窗口 — 約 1.5 分鐘】</a:t>
            </a:r>
          </a:p>
          <a:p/>
          <a:p>
            <a:r>
              <a:t>關鍵時程倒數：</a:t>
            </a:r>
          </a:p>
          <a:p>
            <a:r>
              <a:t>• 2026-11-01 — Genesys EOL（硬期限）</a:t>
            </a:r>
          </a:p>
          <a:p>
            <a:r>
              <a:t>• 2026-06-30 — VOXEN+3CX Go-live（保留 4 個月併行 + buffer）</a:t>
            </a:r>
          </a:p>
          <a:p>
            <a:r>
              <a:t>• 2026-02-28 — 廠商評選必須完成（給瑛聲 4 個月開發 + 測試）</a:t>
            </a:r>
          </a:p>
          <a:p>
            <a:r>
              <a:t>• **今天就是決策窗口的中段**</a:t>
            </a:r>
          </a:p>
          <a:p/>
          <a:p>
            <a:r>
              <a:t>要傳達：「我們不是來推銷的，我們是來提醒：再不決定，時間會吃掉所有彈性。」</a:t>
            </a:r>
          </a:p>
          <a:p/>
          <a:p>
            <a:r>
              <a:t>如果玉山說「我們還在評估別家」：</a:t>
            </a:r>
          </a:p>
          <a:p>
            <a:r>
              <a:t>- 表示理解，但提醒：每延一個月，pilot 時間就少一個月</a:t>
            </a:r>
          </a:p>
          <a:p>
            <a:r>
              <a:t>- 提議：先簽 LOI / MOU 鎖定產能，正式合約可以再談</a:t>
            </a:r>
          </a:p>
          <a:p/>
          <a:p>
            <a:r>
              <a:t>如果玉山說「我們考慮自己做」：</a:t>
            </a:r>
          </a:p>
          <a:p>
            <a:r>
              <a:t>- 帶到下一段（Why 3CX）— 這是我們今天最想談的事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【章節分隔 — 5 秒】</a:t>
            </a:r>
          </a:p>
          <a:p/>
          <a:p>
            <a:r>
              <a:t>「接下來用三句話講清楚我們的解決方案，然後一張圖看完整體架構。」</a:t>
            </a:r>
          </a:p>
          <a:p/>
          <a:p>
            <a:r>
              <a:t>翻頁。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【3 句話 — 約 2 分鐘】</a:t>
            </a:r>
          </a:p>
          <a:p/>
          <a:p>
            <a:r>
              <a:t>1. **「VOXEN 平台接管 Genesys URS 的編排責任」**</a:t>
            </a:r>
          </a:p>
          <a:p>
            <a:r>
              <a:t>   - VOXEN 是瑛聲自研的編排層，做 routing engine、策略引擎、客戶 360 統一視圖</a:t>
            </a:r>
          </a:p>
          <a:p>
            <a:r>
              <a:t>   - 不碰玉山的業務邏輯（OPEN/TeleSA），只接管「分派決策」這層</a:t>
            </a:r>
          </a:p>
          <a:p/>
          <a:p>
            <a:r>
              <a:t>2. **「3CX V20 取代 Genesys SIP 平台，做 PBX/Routing/Recording」**</a:t>
            </a:r>
          </a:p>
          <a:p>
            <a:r>
              <a:t>   - 換的是 SIP 訊令面 + RTP 媒體面</a:t>
            </a:r>
          </a:p>
          <a:p>
            <a:r>
              <a:t>   - HA Cluster 主備</a:t>
            </a:r>
          </a:p>
          <a:p>
            <a:r>
              <a:t>   - 內建錄音 → NAS</a:t>
            </a:r>
          </a:p>
          <a:p/>
          <a:p>
            <a:r>
              <a:t>3. **「既有 OPEN/TeleSA + NAS + AD/SSO + CRM 全部沿用」**</a:t>
            </a:r>
          </a:p>
          <a:p>
            <a:r>
              <a:t>   - 不動既有資產 = 不動既有授權成本 = 不動既有維運團隊習慣</a:t>
            </a:r>
          </a:p>
          <a:p>
            <a:r>
              <a:t>   - 改動面集中在「中介層」與「PBX 替換」</a:t>
            </a:r>
          </a:p>
          <a:p/>
          <a:p>
            <a:r>
              <a:t>口訣：**最大化沿用、最小化撕裂**</a:t>
            </a:r>
          </a:p>
          <a:p/>
          <a:p>
            <a:r>
              <a:t>可能追問：「VOXEN 跟 OPEN 有什麼差別？」</a:t>
            </a:r>
          </a:p>
          <a:p>
            <a:r>
              <a:t>答：OPEN 是業務系統（流程、客資、表單），VOXEN 是平台底層（路由、事件、整合）。OPEN 用的人是 agent / 主管，VOXEN 用的人是系統 / IT。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【對照表 — 約 3 分鐘，給 IT 看細節】</a:t>
            </a:r>
          </a:p>
          <a:p/>
          <a:p>
            <a:r>
              <a:t>逐列帶 IT 看：</a:t>
            </a:r>
          </a:p>
          <a:p/>
          <a:p>
            <a:r>
              <a:t>| 既有 | 換成 / 沿用 |</a:t>
            </a:r>
          </a:p>
          <a:p>
            <a:r>
              <a:t>|---|---|</a:t>
            </a:r>
          </a:p>
          <a:p>
            <a:r>
              <a:t>| Genesys URS | → VOXEN 編排層（取代）|</a:t>
            </a:r>
          </a:p>
          <a:p>
            <a:r>
              <a:t>| Genesys PBX/SIP | → 3CX V20 HA Cluster（取代）|</a:t>
            </a:r>
          </a:p>
          <a:p>
            <a:r>
              <a:t>| OPEN/TeleSA 座席 UI | 沿用，加 3CX Call Control + Hot-desking + Whisper |</a:t>
            </a:r>
          </a:p>
          <a:p>
            <a:r>
              <a:t>| 錄音管理 | 沿用 OPEN，改走 3CX 路徑 |</a:t>
            </a:r>
          </a:p>
          <a:p>
            <a:r>
              <a:t>| Wallboard | 沿用 KPI 邏輯，新增功能 |</a:t>
            </a:r>
          </a:p>
          <a:p>
            <a:r>
              <a:t>| AD / SSO | 沿用 |</a:t>
            </a:r>
          </a:p>
          <a:p>
            <a:r>
              <a:t>| NAS | 沿用 |</a:t>
            </a:r>
          </a:p>
          <a:p>
            <a:r>
              <a:t>| CRM | 沿用 |</a:t>
            </a:r>
          </a:p>
          <a:p>
            <a:r>
              <a:t>| SIP Trunk | 沿用，可平移到 3CX |</a:t>
            </a:r>
          </a:p>
          <a:p/>
          <a:p>
            <a:r>
              <a:t>強調：**業務邏輯零變動**，使用者（agent / 主管）操作習慣 95% 不變，新增的只是「更強的功能」（Whisper、Take-over、進階錄音）。</a:t>
            </a:r>
          </a:p>
          <a:p/>
          <a:p>
            <a:r>
              <a:t>可能追問：「OPEN 的 SCREEN POP 還會 work 嗎？」</a:t>
            </a:r>
          </a:p>
          <a:p>
            <a:r>
              <a:t>答：會。SCREEN POP 是 OPEN 內部邏輯，VOXEN 把 call event 從 3CX 翻譯成 OPEN 認得的訊號就好，OPEN 那層完全不用改。</a:t>
            </a:r>
          </a:p>
          <a:p/>
          <a:p>
            <a:r>
              <a:t>可能追問：「現有 SIP Trunk 要重簽嗎？」</a:t>
            </a:r>
          </a:p>
          <a:p>
            <a:r>
              <a:t>答：不用。SIP Trunk 是電信業者的服務，3CX 支援所有主流 ITSP。我們會做一次設定移轉，不需要新合約。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【整體架構導覽 — 約 1 分鐘】</a:t>
            </a:r>
          </a:p>
          <a:p/>
          <a:p>
            <a:r>
              <a:t>「這張圖把剛才的三句話視覺化。」</a:t>
            </a:r>
          </a:p>
          <a:p/>
          <a:p>
            <a:r>
              <a:t>帶過圖例：</a:t>
            </a:r>
          </a:p>
          <a:p>
            <a:r>
              <a:t>• **綠色** = 替換（Genesys Engage → 3CX V20）</a:t>
            </a:r>
          </a:p>
          <a:p>
            <a:r>
              <a:t>• **藍色** = 新部署（VOXEN 平台：編排 / 資料 / 整合）</a:t>
            </a:r>
          </a:p>
          <a:p>
            <a:r>
              <a:t>• **灰色** = 沿用（既有資產）</a:t>
            </a:r>
          </a:p>
          <a:p/>
          <a:p>
            <a:r>
              <a:t>由上而下指：</a:t>
            </a:r>
          </a:p>
          <a:p>
            <a:r>
              <a:t>1. 使用者層 — 450 席座席 / 主管 / 客戶 / IT</a:t>
            </a:r>
          </a:p>
          <a:p>
            <a:r>
              <a:t>2. 體驗層 — OPEN/TeleSA UI + 增強功能</a:t>
            </a:r>
          </a:p>
          <a:p>
            <a:r>
              <a:t>3. VOXEN 平台 — 編排、橫切支柱、整合 Adapter</a:t>
            </a:r>
          </a:p>
          <a:p>
            <a:r>
              <a:t>4. PBX 層 — 3CX 取代 Genesys，OPEN 沿用，新增 SoftPhone Bar</a:t>
            </a:r>
          </a:p>
          <a:p>
            <a:r>
              <a:t>5. 玉山環境 — NAS、AD/SSO、CRM、SIP Trunk 全沿用</a:t>
            </a:r>
          </a:p>
          <a:p/>
          <a:p>
            <a:r>
              <a:t>「下一頁是放大版本，可以看清楚每個 box 的細節。」翻頁。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【放大圖 — 約 2 分鐘，留時間讓 IT 細看】</a:t>
            </a:r>
          </a:p>
          <a:p/>
          <a:p>
            <a:r>
              <a:t>「請各位花一點時間看圖。我先暫停，等大家看完再往下。」</a:t>
            </a:r>
          </a:p>
          <a:p/>
          <a:p>
            <a:r>
              <a:t>主動指引重點觀察：</a:t>
            </a:r>
          </a:p>
          <a:p>
            <a:r>
              <a:t>• **體驗層那一條都是綠色** — 表示前端 UI 改動最少</a:t>
            </a:r>
          </a:p>
          <a:p>
            <a:r>
              <a:t>• **PBX 層只有一個 box 是替換** — 3CX V20 PBX，其他 OPEN/Outreach 都沿用</a:t>
            </a:r>
          </a:p>
          <a:p>
            <a:r>
              <a:t>• **玉山環境那一條全部是灰色** — 既有資產零撕裂</a:t>
            </a:r>
          </a:p>
          <a:p/>
          <a:p>
            <a:r>
              <a:t>如果有 IT 提出「為什麼 OPEN 跟 VOXEN 之間要有編排層？」：</a:t>
            </a:r>
          </a:p>
          <a:p>
            <a:r>
              <a:t>答：編排層做兩件事 — (1) 把 3CX 的事件正規化成 OPEN 認得的格式；(2) 跑路由策略（Last-Agent、技能群、客戶優先級）。等於把 Genesys URS 的「決策邏輯」搬到 VOXEN 層，但跟業務邏輯解耦。</a:t>
            </a:r>
          </a:p>
          <a:p/>
          <a:p>
            <a:r>
              <a:t>問完一輪後翻下一段「Why 3CX」。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【章節分隔 — 10 秒】</a:t>
            </a:r>
          </a:p>
          <a:p/>
          <a:p>
            <a:r>
              <a:t>「接下來這段是今天的核心。」</a:t>
            </a:r>
          </a:p>
          <a:p>
            <a:r>
              <a:t>「我猜玉山內部一定有人問過：『為什麼不自己開發？瑛聲 Copilot 不就是自己做的嗎？』」</a:t>
            </a:r>
          </a:p>
          <a:p>
            <a:r>
              <a:t>「這 8 頁就是要回答這個問題。」</a:t>
            </a:r>
          </a:p>
          <a:p/>
          <a:p>
            <a:r>
              <a:t>翻頁。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【同理 — 約 1.5 分鐘】</a:t>
            </a:r>
          </a:p>
          <a:p/>
          <a:p>
            <a:r>
              <a:t>開場：「我先把玉山可能的期待講出來，這樣等下我們的論述才不會像在迴避問題。」</a:t>
            </a:r>
          </a:p>
          <a:p/>
          <a:p>
            <a:r>
              <a:t>玉山合理的期待（為什麼會想找瑛聲自己開發）：</a:t>
            </a:r>
          </a:p>
          <a:p>
            <a:r>
              <a:t>• Copilot Phase II 是瑛聲自研，且已成功</a:t>
            </a:r>
          </a:p>
          <a:p>
            <a:r>
              <a:t>• 自研代表「客製空間最大」、「沒有 vendor lock-in」</a:t>
            </a:r>
          </a:p>
          <a:p>
            <a:r>
              <a:t>• 跟瑛聲合作多年有信任</a:t>
            </a:r>
          </a:p>
          <a:p/>
          <a:p>
            <a:r>
              <a:t>要表達的態度：「這個期待是對的、合理的，瑛聲也很榮幸玉山這樣信任我們。」</a:t>
            </a:r>
          </a:p>
          <a:p/>
          <a:p>
            <a:r>
              <a:t>但接下來要轉折：「Copilot 跟 Outreach 是兩種完全不同的工程量級。」</a:t>
            </a:r>
          </a:p>
          <a:p/>
          <a:p>
            <a:r>
              <a:t>不要急著否定，先肯定 → 再說明取捨。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【為什麼不自建 — 約 2-3 分鐘】</a:t>
            </a:r>
          </a:p>
          <a:p/>
          <a:p>
            <a:r>
              <a:t>三個務實的理由（按重要性排序）：</a:t>
            </a:r>
          </a:p>
          <a:p/>
          <a:p>
            <a:r>
              <a:t>1. **時程不夠**</a:t>
            </a:r>
          </a:p>
          <a:p>
            <a:r>
              <a:t>   - 自建 PBX/SIP 平台要 18-24 個月（含 SBC、媒體網關、HA、合規驗證）</a:t>
            </a:r>
          </a:p>
          <a:p>
            <a:r>
              <a:t>   - Genesys EOL 倒數 18 個月</a:t>
            </a:r>
          </a:p>
          <a:p>
            <a:r>
              <a:t>   - 數學算不過來</a:t>
            </a:r>
          </a:p>
          <a:p/>
          <a:p>
            <a:r>
              <a:t>2. **人才稀缺、團隊重建成本高**</a:t>
            </a:r>
          </a:p>
          <a:p>
            <a:r>
              <a:t>   - SIP/RTP/SBC 是專業領域，台灣有經驗的工程師全部加起來不到 100 人</a:t>
            </a:r>
          </a:p>
          <a:p>
            <a:r>
              <a:t>   - 即使瑛聲挖到，建立團隊到能交付 production 至少 12 個月</a:t>
            </a:r>
          </a:p>
          <a:p>
            <a:r>
              <a:t>   - 玉山要的不是「能跑」，是「能 7×24 跑十年」</a:t>
            </a:r>
          </a:p>
          <a:p/>
          <a:p>
            <a:r>
              <a:t>3. **長期維運的不對等**</a:t>
            </a:r>
          </a:p>
          <a:p>
            <a:r>
              <a:t>   - PBX 不是寫完就結束，要持續跟進電信規範、編解碼、資安漏洞</a:t>
            </a:r>
          </a:p>
          <a:p>
            <a:r>
              <a:t>   - 自建後維運成本會壓在玉山身上（瑛聲只能盡力）</a:t>
            </a:r>
          </a:p>
          <a:p>
            <a:r>
              <a:t>   - 用 3CX 等於「把全球 vendor 的維運能量借過來」</a:t>
            </a:r>
          </a:p>
          <a:p/>
          <a:p>
            <a:r>
              <a:t>關鍵 framing：</a:t>
            </a:r>
          </a:p>
          <a:p>
            <a:r>
              <a:t>「自建不是不可能，是『不該由誰扛』的問題。SIP 訊令層讓全球專業 vendor 扛，瑛聲扛上面的編排與整合 — 這才是分工合理。」</a:t>
            </a:r>
          </a:p>
          <a:p/>
          <a:p>
            <a:r>
              <a:t>可能追問：「那 Copilot 為什麼是自己做？」</a:t>
            </a:r>
          </a:p>
          <a:p>
            <a:r>
              <a:t>答：Copilot 是 AI 應用層，沒有現成 vendor，且沒有合規硬要求；Outreach 是電信基礎設施，有現成 vendor 且合規負擔重 — 領域特性不同。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【三選一矩陣 — 約 2-3 分鐘】</a:t>
            </a:r>
          </a:p>
          <a:p/>
          <a:p>
            <a:r>
              <a:t>對照「自建 vs Genesys / Avaya / Cisco vs 3CX」三條路徑：</a:t>
            </a:r>
          </a:p>
          <a:p/>
          <a:p>
            <a:r>
              <a:t>維度（依玉山優先順序）：</a:t>
            </a:r>
          </a:p>
          <a:p>
            <a:r>
              <a:t>• **上市時程**：3CX &lt; 商業 PBX &lt; 自建</a:t>
            </a:r>
          </a:p>
          <a:p>
            <a:r>
              <a:t>• **TCO（3 年）**：3CX &lt; 自建 &lt; 商業 PBX（商業 PBX 授權費跳很高）</a:t>
            </a:r>
          </a:p>
          <a:p>
            <a:r>
              <a:t>• **長期支援**：商業 PBX = 3CX &gt; 自建</a:t>
            </a:r>
          </a:p>
          <a:p>
            <a:r>
              <a:t>• **技術深度（合規/HA/SBC）**：商業 PBX ≈ 3CX &gt; 自建</a:t>
            </a:r>
          </a:p>
          <a:p>
            <a:r>
              <a:t>• **彈性與整合**：3CX &gt; 自建 &gt; 商業 PBX（商業 PBX 封閉）</a:t>
            </a:r>
          </a:p>
          <a:p>
            <a:r>
              <a:t>• **vendor lock-in 風險**：3CX 最低（有 Source Code Escrow）</a:t>
            </a:r>
          </a:p>
          <a:p/>
          <a:p>
            <a:r>
              <a:t>結論：3CX 在「玉山在意的維度」全部前段班，且 TCO 最低。</a:t>
            </a:r>
          </a:p>
          <a:p/>
          <a:p>
            <a:r>
              <a:t>如果 IT 質疑「3CX 不是商業等級」：</a:t>
            </a:r>
          </a:p>
          <a:p>
            <a:r>
              <a:t>答：3CX 在全球有 35 萬家企業客戶，金融業案例後面會講。它是商業產品，但採用 SIP 開放標準 + 訂閱授權模式，所以價格比 Avaya/Cisco 親民。</a:t>
            </a:r>
          </a:p>
          <a:p/>
          <a:p>
            <a:r>
              <a:t>如果問「跟 FreeSWITCH/Asterisk 比？」</a:t>
            </a:r>
          </a:p>
          <a:p>
            <a:r>
              <a:t>答：FreeSWITCH/Asterisk 是『開源套件』，不是『產品』，需要自己組裝整合 → 等於回到自建路徑，要解決所有運維問題。3CX 是「打包好的產品」，買回來能直接用。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【金融業案例 — 約 2 分鐘】</a:t>
            </a:r>
          </a:p>
          <a:p/>
          <a:p>
            <a:r>
              <a:t>要傳達的訊息：「3CX 不是新東西，金融業已經用了，風險被市場驗證過了。」</a:t>
            </a:r>
          </a:p>
          <a:p/>
          <a:p>
            <a:r>
              <a:t>呈現方式：列出全球銀行 / 保險業使用 3CX 的案例（具體名稱依資料準備）。</a:t>
            </a:r>
          </a:p>
          <a:p/>
          <a:p>
            <a:r>
              <a:t>重點不是「有多少家」，而是「有跟玉山相似規模的」：</a:t>
            </a:r>
          </a:p>
          <a:p>
            <a:r>
              <a:t>• 某歐洲商業銀行 — 800 席 contact center</a:t>
            </a:r>
          </a:p>
          <a:p>
            <a:r>
              <a:t>• 某亞洲區域銀行 — 多分行 IP-PBX 整合</a:t>
            </a:r>
          </a:p>
          <a:p>
            <a:r>
              <a:t>• 台灣 / 香港 / 新加坡的金融業案例（盡量在地化）</a:t>
            </a:r>
          </a:p>
          <a:p/>
          <a:p>
            <a:r>
              <a:t>如果 IT 問「在台灣金融業有實證嗎？」：</a:t>
            </a:r>
          </a:p>
          <a:p>
            <a:r>
              <a:t>- 誠實答：「目前公開可引用的台灣金融案例還在累積中。但這正是『玉山可以成為旗艦案例』的機會 — 我們會把資源傾斜到這個案子。」</a:t>
            </a:r>
          </a:p>
          <a:p>
            <a:r>
              <a:t>- 把劣勢翻轉成 partnership 機會</a:t>
            </a:r>
          </a:p>
          <a:p/>
          <a:p>
            <a:r>
              <a:t>如果 IT 問「3CX 有過資安事件嗎？」：</a:t>
            </a:r>
          </a:p>
          <a:p>
            <a:r>
              <a:t>- 誠實答：2023 年 3CX Desktop App 有過供應鏈攻擊（北韓 Lazarus）</a:t>
            </a:r>
          </a:p>
          <a:p>
            <a:r>
              <a:t>- 但要強調：(1) 那次只影響桌面客戶端，不影響 server；(2) 3CX 從那次事件後大幅強化 SDLC、code signing、SBOM 管理；(3) 玉山的 SoftPhone Bar 是瑛聲開發，可選擇不裝 3CX 客戶端</a:t>
            </a:r>
          </a:p>
          <a:p>
            <a:r>
              <a:t>- 主動揭露 = 建立信任，比被問起來才答更有說服力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【瑛聲身分 — 約 1.5 分鐘】</a:t>
            </a:r>
          </a:p>
          <a:p/>
          <a:p>
            <a:r>
              <a:t>關鍵 message：「玉山不只是買 3CX，是透過 Premium Partner 買 3CX。」</a:t>
            </a:r>
          </a:p>
          <a:p/>
          <a:p>
            <a:r>
              <a:t>瑛聲的 Premium Partner 身分提供：</a:t>
            </a:r>
          </a:p>
          <a:p>
            <a:r>
              <a:t>• **直通原廠 escalation** — L3 issue 不用 wait queue</a:t>
            </a:r>
          </a:p>
          <a:p>
            <a:r>
              <a:t>• **認證工程師團隊** — Advanced Certified Engineer x N</a:t>
            </a:r>
          </a:p>
          <a:p>
            <a:r>
              <a:t>• **L1/L2 在台灣，L3 走原廠** — 中文支援不間斷</a:t>
            </a:r>
          </a:p>
          <a:p>
            <a:r>
              <a:t>• **早期取得 roadmap** — 重大功能 玉山 可優先試用</a:t>
            </a:r>
          </a:p>
          <a:p>
            <a:r>
              <a:t>• **共同設計權** — 玉山 的特殊需求可走 partner channel 反映給原廠</a:t>
            </a:r>
          </a:p>
          <a:p/>
          <a:p>
            <a:r>
              <a:t>對玉山的意義：</a:t>
            </a:r>
          </a:p>
          <a:p>
            <a:r>
              <a:t>- 不是「買產品」，是「買產品 + 產品的所有後援」</a:t>
            </a:r>
          </a:p>
          <a:p>
            <a:r>
              <a:t>- 出問題不是「找 3CX 全球客服」，是「找瑛聲，瑛聲負責找 3CX」</a:t>
            </a:r>
          </a:p>
          <a:p>
            <a:r>
              <a:t>- 單點責任，玉山不用管 vendor 接力</a:t>
            </a:r>
          </a:p>
          <a:p/>
          <a:p>
            <a:r>
              <a:t>可能追問：「萬一瑛聲不在了？」</a:t>
            </a:r>
          </a:p>
          <a:p>
            <a:r>
              <a:t>- 帶到下一頁 Source Code Escrow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【Escrow — 約 3 分鐘，本場最重要的一頁】</a:t>
            </a:r>
          </a:p>
          <a:p/>
          <a:p>
            <a:r>
              <a:t>開場：「這頁我特別停久一點，因為我猜玉山法務 / 採購一定會問這個。」</a:t>
            </a:r>
          </a:p>
          <a:p/>
          <a:p>
            <a:r>
              <a:t>Source Code Escrow 是什麼：</a:t>
            </a:r>
          </a:p>
          <a:p>
            <a:r>
              <a:t>- 把 3CX 的 source code 託管給第三方公證機構（如 Iron Mountain、NCC Group）</a:t>
            </a:r>
          </a:p>
          <a:p>
            <a:r>
              <a:t>- 平時鎖在保險庫</a:t>
            </a:r>
          </a:p>
          <a:p>
            <a:r>
              <a:t>- 觸發條件達成時，玉山可以取得 source code，自行維護或請第三方接手</a:t>
            </a:r>
          </a:p>
          <a:p/>
          <a:p>
            <a:r>
              <a:t>觸發條件（可在合約裡明確寫）：</a:t>
            </a:r>
          </a:p>
          <a:p>
            <a:r>
              <a:t>1. 3CX 公司破產 / 被併購且新東家停止支援</a:t>
            </a:r>
          </a:p>
          <a:p>
            <a:r>
              <a:t>2. 3CX 終止對玉山的支援超過 N 個月</a:t>
            </a:r>
          </a:p>
          <a:p>
            <a:r>
              <a:t>3. 嚴重資安漏洞 vendor 拒絕修補</a:t>
            </a:r>
          </a:p>
          <a:p>
            <a:r>
              <a:t>4. 雙方共同議定的其他條件</a:t>
            </a:r>
          </a:p>
          <a:p/>
          <a:p>
            <a:r>
              <a:t>為什麼這是「致命武器」：</a:t>
            </a:r>
          </a:p>
          <a:p>
            <a:r>
              <a:t>- 銀行最怕 vendor lock-in（規模太大、不能停機、卻被 vendor 綁住）</a:t>
            </a:r>
          </a:p>
          <a:p>
            <a:r>
              <a:t>- Escrow 解決了這個問題：「最壞情況我也可以 take over」</a:t>
            </a:r>
          </a:p>
          <a:p>
            <a:r>
              <a:t>- Avaya / Cisco 不會做這個承諾，3CX 願意（瑛聲已協助多家客戶談過）</a:t>
            </a:r>
          </a:p>
          <a:p/>
          <a:p>
            <a:r>
              <a:t>要強調：「這不是空話，瑛聲可以提供 Escrow 合約樣本，會議後我們可以讓玉山法務先看。」</a:t>
            </a:r>
          </a:p>
          <a:p/>
          <a:p>
            <a:r>
              <a:t>可能追問：「Escrow 費用誰付？」</a:t>
            </a:r>
          </a:p>
          <a:p>
            <a:r>
              <a:t>答：通常分攤 — 託管年費由甲方付（一年大約幾十萬台幣），驗證測試費由 vendor 付。具體可議。</a:t>
            </a:r>
          </a:p>
          <a:p/>
          <a:p>
            <a:r>
              <a:t>可能追問：「拿到 source code 我們真的能 take over 嗎？」</a:t>
            </a:r>
          </a:p>
          <a:p>
            <a:r>
              <a:t>答：理論上可以，實務上需要建立 SIP/RTP 專業團隊（回到「自建」的問題）。Escrow 的價值不在於「真的會用」，而在於「持有這個選項本身就降低 vendor 議價權」。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【Q&amp;A 第一輪 — 約 2-3 分鐘】</a:t>
            </a:r>
          </a:p>
          <a:p/>
          <a:p>
            <a:r>
              <a:t>這頁列的是「會議現場用」的簡答。內部 Q&amp;A 深度本（另份 PDF）有完整證據。</a:t>
            </a:r>
          </a:p>
          <a:p/>
          <a:p>
            <a:r>
              <a:t>預期問題（簡答）：</a:t>
            </a:r>
          </a:p>
          <a:p>
            <a:r>
              <a:t>1. **3CX 升級頻率？影響業務嗎？** — V20 LTS 三年週期，小版本可線上熱升級</a:t>
            </a:r>
          </a:p>
          <a:p>
            <a:r>
              <a:t>2. **HA failover 真實 RTO？** — 實測 30-60 秒，期間活通話不掉</a:t>
            </a:r>
          </a:p>
          <a:p>
            <a:r>
              <a:t>3. **能撐 450 並發 + 250 同時錄音嗎？** — 規格內，且 sizing 留 30% buffer</a:t>
            </a:r>
          </a:p>
          <a:p>
            <a:r>
              <a:t>4. **跟現有 SIP Trunk 相容？** — 主流 ITSP 全部支援</a:t>
            </a:r>
          </a:p>
          <a:p>
            <a:r>
              <a:t>5. **編解碼支援？** — G.711 / G.722 / G.729 / Opus 全支援</a:t>
            </a:r>
          </a:p>
          <a:p/>
          <a:p>
            <a:r>
              <a:t>每題都簡答，避免在這裡卡住，引導到「會後我們有完整 Q&amp;A binder」。</a:t>
            </a:r>
          </a:p>
          <a:p/>
          <a:p>
            <a:r>
              <a:t>如果有時間就詳答；沒時間就翻下一頁。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【Q&amp;A 第二輪 — 約 2-3 分鐘】</a:t>
            </a:r>
          </a:p>
          <a:p/>
          <a:p>
            <a:r>
              <a:t>商業/合規面預期問題：</a:t>
            </a:r>
          </a:p>
          <a:p>
            <a:r>
              <a:t>1. **授權模式有哪些？** — PerYear / PerSeat / Hybrid，可組合</a:t>
            </a:r>
          </a:p>
          <a:p>
            <a:r>
              <a:t>2. **資料主權在哪？** — 全部 on-prem，玉山機房內，無雲端依賴</a:t>
            </a:r>
          </a:p>
          <a:p>
            <a:r>
              <a:t>3. **個資法 / 金管會 H113-04 怎麼對應？** — 後面附錄章節有對照表</a:t>
            </a:r>
          </a:p>
          <a:p>
            <a:r>
              <a:t>4. **錄音保管年限？** — 可設策略式保管（依業務分流），sourceing 仍走 NAS</a:t>
            </a:r>
          </a:p>
          <a:p>
            <a:r>
              <a:t>5. **PCI Pause-Resume 支援？** — 內建，可由 OPEN 觸發</a:t>
            </a:r>
          </a:p>
          <a:p/>
          <a:p>
            <a:r>
              <a:t>要留 buffer：「如果各位還有其他問題，現在就提，或我們留到最後 Q&amp;A 時間。」</a:t>
            </a:r>
          </a:p>
          <a:p/>
          <a:p>
            <a:r>
              <a:t>翻下一段（Migration Strategy）。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【遷移策略 — 約 3 分鐘】</a:t>
            </a:r>
          </a:p>
          <a:p/>
          <a:p>
            <a:r>
              <a:t>三階段 + 每階段都可 rollback：</a:t>
            </a:r>
          </a:p>
          <a:p/>
          <a:p>
            <a:r>
              <a:t>**階段 1 — Pilot（30-50 席）**</a:t>
            </a:r>
          </a:p>
          <a:p>
            <a:r>
              <a:t>- 選非關鍵業務群（例如行銷外撥、活動推廣）</a:t>
            </a:r>
          </a:p>
          <a:p>
            <a:r>
              <a:t>- 跑 4-6 週，驗證功能、HA、整合</a:t>
            </a:r>
          </a:p>
          <a:p>
            <a:r>
              <a:t>- KPI：撥通率、平均處理時長、agent 滿意度</a:t>
            </a:r>
          </a:p>
          <a:p/>
          <a:p>
            <a:r>
              <a:t>**階段 2 — 雙軌（混合）**</a:t>
            </a:r>
          </a:p>
          <a:p>
            <a:r>
              <a:t>- Pilot 通過後，逐群擴大</a:t>
            </a:r>
          </a:p>
          <a:p>
            <a:r>
              <a:t>- 部分業務群用 3CX，部分還在 Genesys</a:t>
            </a:r>
          </a:p>
          <a:p>
            <a:r>
              <a:t>- 用 VOXEN 編排層做動態分派</a:t>
            </a:r>
          </a:p>
          <a:p>
            <a:r>
              <a:t>- 持續 8-12 週</a:t>
            </a:r>
          </a:p>
          <a:p/>
          <a:p>
            <a:r>
              <a:t>**階段 3 — 切換 + Genesys 退役**</a:t>
            </a:r>
          </a:p>
          <a:p>
            <a:r>
              <a:t>- 全量遷移到 3CX</a:t>
            </a:r>
          </a:p>
          <a:p>
            <a:r>
              <a:t>- Genesys 進入「只維持、不擴展」狀態</a:t>
            </a:r>
          </a:p>
          <a:p>
            <a:r>
              <a:t>- 6 月底完成，11 月 EOL 前退役</a:t>
            </a:r>
          </a:p>
          <a:p/>
          <a:p>
            <a:r>
              <a:t>每階段都有 **rollback path** — 不滿意可以退回上一階段。</a:t>
            </a:r>
          </a:p>
          <a:p/>
          <a:p>
            <a:r>
              <a:t>要強調：「我們不要求玉山一次 all-in。每一階段都讓玉山有 say no 的權利。」</a:t>
            </a:r>
          </a:p>
          <a:p/>
          <a:p>
            <a:r>
              <a:t>可能追問：「Pilot 失敗怎麼辦？」</a:t>
            </a:r>
          </a:p>
          <a:p>
            <a:r>
              <a:t>答：Pilot 是雙方共同定義成功標準。失敗的話，瑛聲承擔損失，玉山不用 commit 後續階段。這是 partner 該扛的風險。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【時程 — 約 2 分鐘】</a:t>
            </a:r>
          </a:p>
          <a:p/>
          <a:p>
            <a:r>
              <a:t>里程碑（對齊 Genesys 11/01 EOL）：</a:t>
            </a:r>
          </a:p>
          <a:p/>
          <a:p>
            <a:r>
              <a:t>| 月份 | 里程碑 |</a:t>
            </a:r>
          </a:p>
          <a:p>
            <a:r>
              <a:t>|---|---|</a:t>
            </a:r>
          </a:p>
          <a:p>
            <a:r>
              <a:t>| 2026-03 | M1: 合約簽訂 + Kickoff |</a:t>
            </a:r>
          </a:p>
          <a:p>
            <a:r>
              <a:t>| 2026-04 | M2: 環境部署 + Pilot 規劃 |</a:t>
            </a:r>
          </a:p>
          <a:p>
            <a:r>
              <a:t>| 2026-05 | M3: Pilot 上線（30-50 席）|</a:t>
            </a:r>
          </a:p>
          <a:p>
            <a:r>
              <a:t>| 2026-06 | M4: 雙軌驗證完成 |</a:t>
            </a:r>
          </a:p>
          <a:p>
            <a:r>
              <a:t>| **2026-06-30** | **M5: Go-live（450 席全量）** |</a:t>
            </a:r>
          </a:p>
          <a:p>
            <a:r>
              <a:t>| 2026-07 ~ 10 | 併行運轉 + 微調 |</a:t>
            </a:r>
          </a:p>
          <a:p>
            <a:r>
              <a:t>| 2026-11-01 | Genesys 退役（EOL 當天）|</a:t>
            </a:r>
          </a:p>
          <a:p/>
          <a:p>
            <a:r>
              <a:t>要強調：</a:t>
            </a:r>
          </a:p>
          <a:p>
            <a:r>
              <a:t>- **6 月底 Go-live 後還有 4 個月併行 buffer**（穩定期）</a:t>
            </a:r>
          </a:p>
          <a:p>
            <a:r>
              <a:t>- 不是「踩著 EOL 上線」，是「提前上線、留 buffer」</a:t>
            </a:r>
          </a:p>
          <a:p>
            <a:r>
              <a:t>- 任何階段延誤，最壞情況都還有時間吸收</a:t>
            </a:r>
          </a:p>
          <a:p/>
          <a:p>
            <a:r>
              <a:t>可能追問：「3 月才簽約來得及嗎？」</a:t>
            </a:r>
          </a:p>
          <a:p>
            <a:r>
              <a:t>答：來得及。瑛聲 4-12 月有 7 個月開發+測試+部署，加上 4 個月併行 = 11 個月，比業界一般 PBX 替換案例（12-18 個月）寬鬆。</a:t>
            </a:r>
          </a:p>
          <a:p/>
          <a:p>
            <a:r>
              <a:t>可能追問：「能不能更快？」</a:t>
            </a:r>
          </a:p>
          <a:p>
            <a:r>
              <a:t>答：可以壓縮到 5 月 Go-live，但 buffer 會吃掉。建議按計畫走。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【商業條款 — 約 2 分鐘】</a:t>
            </a:r>
          </a:p>
          <a:p/>
          <a:p>
            <a:r>
              <a:t>授權三種模式：</a:t>
            </a:r>
          </a:p>
          <a:p>
            <a:r>
              <a:t>1. **PerYear（年訂閱）** — 適合預算年度規劃，每年固定支出</a:t>
            </a:r>
          </a:p>
          <a:p>
            <a:r>
              <a:t>2. **PerSeat（席次永久）** — 適合長期穩定使用，前期投資較重</a:t>
            </a:r>
          </a:p>
          <a:p>
            <a:r>
              <a:t>3. **Hybrid（混合）** — 核心席次 PerSeat、彈性席次 PerYear</a:t>
            </a:r>
          </a:p>
          <a:p/>
          <a:p>
            <a:r>
              <a:t>瑛聲服務費分項：</a:t>
            </a:r>
          </a:p>
          <a:p>
            <a:r>
              <a:t>- 一次性：建置、移轉、訓練</a:t>
            </a:r>
          </a:p>
          <a:p>
            <a:r>
              <a:t>- 經常性：L1/L2 年度維護、SLA 保證、新版本支援</a:t>
            </a:r>
          </a:p>
          <a:p/>
          <a:p>
            <a:r>
              <a:t>SLA 框架（可議）：</a:t>
            </a:r>
          </a:p>
          <a:p>
            <a:r>
              <a:t>- Severity 1（系統中斷）：Response 30 min / Resolve 4 hr</a:t>
            </a:r>
          </a:p>
          <a:p>
            <a:r>
              <a:t>- Severity 2（功能異常）：Response 2 hr / Resolve 24 hr</a:t>
            </a:r>
          </a:p>
          <a:p>
            <a:r>
              <a:t>- Severity 3（一般）：Response 1 day / Resolve 5 day</a:t>
            </a:r>
          </a:p>
          <a:p/>
          <a:p>
            <a:r>
              <a:t>合約期建議：</a:t>
            </a:r>
          </a:p>
          <a:p>
            <a:r>
              <a:t>- 主合約 3 年（與 3CX V20 LTS 週期對齊）</a:t>
            </a:r>
          </a:p>
          <a:p>
            <a:r>
              <a:t>- 第 4 年起 evergreen，雙方任一方可在 90 天前終止</a:t>
            </a:r>
          </a:p>
          <a:p/>
          <a:p>
            <a:r>
              <a:t>提醒：「具體數字要 NDA 後深談，今天先談架構。」</a:t>
            </a:r>
          </a:p>
          <a:p/>
          <a:p>
            <a:r>
              <a:t>可能追問：「總價估個 ballpark？」</a:t>
            </a:r>
          </a:p>
          <a:p>
            <a:r>
              <a:t>- 自建：千萬級 + 18-24 個月人月</a:t>
            </a:r>
          </a:p>
          <a:p>
            <a:r>
              <a:t>- VOXEN+3CX：百萬級（依授權模式）+ 6-9 個月人月</a:t>
            </a:r>
          </a:p>
          <a:p>
            <a:r>
              <a:t>- 續用 Genesys（如果可以）：Genesys 原本年費 × 1.5-2.0 倍 + 仍有 EOL 風險</a:t>
            </a:r>
          </a:p>
          <a:p>
            <a:r>
              <a:t>- 不要在會議現場給死數字，引導到「TCO 試算表會後提供」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【Copilot 共存 — 約 1.5 分鐘】</a:t>
            </a:r>
          </a:p>
          <a:p/>
          <a:p>
            <a:r>
              <a:t>要傳達：「Phase 6 不影響 Copilot Phase II 進行，反而互補。」</a:t>
            </a:r>
          </a:p>
          <a:p/>
          <a:p>
            <a:r>
              <a:t>共存關係：</a:t>
            </a:r>
          </a:p>
          <a:p>
            <a:r>
              <a:t>- Copilot Phase II = 進線（inbound）AI 副駕</a:t>
            </a:r>
          </a:p>
          <a:p>
            <a:r>
              <a:t>- Phase 6 Outreach = 出線（outbound）450 席</a:t>
            </a:r>
          </a:p>
          <a:p>
            <a:r>
              <a:t>- 兩個專案的 agent 可以是不同人，也可以重疊</a:t>
            </a:r>
          </a:p>
          <a:p>
            <a:r>
              <a:t>- 兩個專案的 AI 能力（ASR / NLU / 知識庫）可共用</a:t>
            </a:r>
          </a:p>
          <a:p/>
          <a:p>
            <a:r>
              <a:t>整合點：</a:t>
            </a:r>
          </a:p>
          <a:p>
            <a:r>
              <a:t>- 共用 LLM Gateway（VOXEN 整合層提供）</a:t>
            </a:r>
          </a:p>
          <a:p>
            <a:r>
              <a:t>- 共用客戶 360 視圖（VOXEN 資料層）</a:t>
            </a:r>
          </a:p>
          <a:p>
            <a:r>
              <a:t>- 共用 AD/SSO（玉山既有）</a:t>
            </a:r>
          </a:p>
          <a:p/>
          <a:p>
            <a:r>
              <a:t>對玉山的意義：</a:t>
            </a:r>
          </a:p>
          <a:p>
            <a:r>
              <a:t>- 不需要「二選一」</a:t>
            </a:r>
          </a:p>
          <a:p>
            <a:r>
              <a:t>- 兩個專案投資都不會浪費</a:t>
            </a:r>
          </a:p>
          <a:p>
            <a:r>
              <a:t>- 證明瑛聲懂玉山的整體生態</a:t>
            </a:r>
          </a:p>
          <a:p/>
          <a:p>
            <a:r>
              <a:t>可能追問：「Copilot Phase II 還在跑，再開 Phase 6 會不會分散資源？」</a:t>
            </a:r>
          </a:p>
          <a:p>
            <a:r>
              <a:t>答：Phase 6 由不同團隊負責，Copilot 的 Engagement Manager 不變。我們有獨立的 Outreach 專案組進駐玉山。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【收尾 + Demo 預告 — 約 1 分鐘】</a:t>
            </a:r>
          </a:p>
          <a:p/>
          <a:p>
            <a:r>
              <a:t>四個 demo（細節在 DEMO-SCRIPT.md）：</a:t>
            </a:r>
          </a:p>
          <a:p>
            <a:r>
              <a:t>1. **致行外撥 + 平滑轉真人**（5 min）— 展示 Voice Bot + 無縫轉接</a:t>
            </a:r>
          </a:p>
          <a:p>
            <a:r>
              <a:t>2. **3CX HA Failover**（4 min）— 主節點掛掉，活通話不掉</a:t>
            </a:r>
          </a:p>
          <a:p>
            <a:r>
              <a:t>3. **主管即時介入 + 錄音管理**（4 min）— Whisper / Barge-in / Take-over</a:t>
            </a:r>
          </a:p>
          <a:p>
            <a:r>
              <a:t>4. **Last-Agent Routing**（2-3 min，備援 demo）</a:t>
            </a:r>
          </a:p>
          <a:p/>
          <a:p>
            <a:r>
              <a:t>下一步建議：</a:t>
            </a:r>
          </a:p>
          <a:p>
            <a:r>
              <a:t>1. **本週**：玉山內部討論這份提案</a:t>
            </a:r>
          </a:p>
          <a:p>
            <a:r>
              <a:t>2. **下週**：簽 NDA，瑛聲提供 SOW Draft v0.6 + TCO 試算 + Q&amp;A binder</a:t>
            </a:r>
          </a:p>
          <a:p>
            <a:r>
              <a:t>3. **2 月底前**：完成評選決策</a:t>
            </a:r>
          </a:p>
          <a:p>
            <a:r>
              <a:t>4. **3 月初**：合約簽訂、Kickoff</a:t>
            </a:r>
          </a:p>
          <a:p/>
          <a:p>
            <a:r>
              <a:t>如果玉山說「我們需要 POC」：</a:t>
            </a:r>
          </a:p>
          <a:p>
            <a:r>
              <a:t>答：歡迎。POC 我們可以做 30 天，提供 10 席試用環境，跑 1-2 個業務群。POC 期間費用瑛聲吸收，POC 通過則合約直接 convert。</a:t>
            </a:r>
          </a:p>
          <a:p/>
          <a:p>
            <a:r>
              <a:t>接下來進 Demo 環節，或開放 Q&amp;A。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【結尾 — 30 秒】</a:t>
            </a:r>
          </a:p>
          <a:p/>
          <a:p>
            <a:r>
              <a:t>「以上是瑛聲對玉山 Outreach 案的整體建議。」</a:t>
            </a:r>
          </a:p>
          <a:p>
            <a:r>
              <a:t>「再次感謝玉山給我們這個機會。」</a:t>
            </a:r>
          </a:p>
          <a:p>
            <a:r>
              <a:t>「請各位指教，Q&amp;A 時間開始。」</a:t>
            </a:r>
          </a:p>
          <a:p/>
          <a:p>
            <a:r>
              <a:t>注意事項：</a:t>
            </a:r>
          </a:p>
          <a:p>
            <a:r>
              <a:t>- 不要說「謝謝指教」就結束，要主動邀請發言</a:t>
            </a:r>
          </a:p>
          <a:p>
            <a:r>
              <a:t>- 主講者保持站姿，不要急著坐下</a:t>
            </a:r>
          </a:p>
          <a:p>
            <a:r>
              <a:t>- 第一個問題如果冷場，可以反問：「我猜各位最想了解的是 [Escrow / 時程 / 預算] 哪一塊？」主動破冰</a:t>
            </a:r>
          </a:p>
          <a:p/>
          <a:p>
            <a:r>
              <a:t>Q&amp;A 結束後 24 小時內：</a:t>
            </a:r>
          </a:p>
          <a:p>
            <a:r>
              <a:t>- 寄 follow-up email（模板已準備）</a:t>
            </a:r>
          </a:p>
          <a:p>
            <a:r>
              <a:t>- 附上：當天提問的補充資料、SOW Draft、TCO 試算、Q&amp;A binder</a:t>
            </a:r>
          </a:p>
          <a:p>
            <a:r>
              <a:t>- 提議下一次會議時間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0"/>
            <a:ext cx="7315200" cy="3108960"/>
          </a:xfrm>
          <a:prstGeom prst="rect">
            <a:avLst/>
          </a:prstGeom>
          <a:solidFill>
            <a:srgbClr val="0A4055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423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8E3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提案給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玉山商業銀行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Outbound 客服中心現代化專案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B8E3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VOXEN + 3CX  解決方案提案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617720"/>
            <a:ext cx="1371600" cy="0"/>
          </a:xfrm>
          <a:prstGeom prst="line">
            <a:avLst/>
          </a:prstGeom>
          <a:noFill/>
          <a:ln w="25400">
            <a:solidFill>
              <a:srgbClr val="10A0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709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8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05 / XX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5029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8E3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提案商：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瑛聲科技企業股份有限公司</a:t>
            </a:r>
            <a:pPr algn="l" indent="0" marL="0">
              <a:buNone/>
            </a:pPr>
            <a:r>
              <a:rPr lang="en-US" sz="1300" dirty="0">
                <a:solidFill>
                  <a:srgbClr val="B8E3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·  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3CX Premium Partner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652760" y="6355080"/>
            <a:ext cx="1325880" cy="365760"/>
          </a:xfrm>
          <a:prstGeom prst="rect">
            <a:avLst/>
          </a:prstGeom>
          <a:solidFill>
            <a:srgbClr val="0E5066">
              <a:alpha val="7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52760" y="63550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機密資訊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0" y="228600"/>
            <a:ext cx="13716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2C9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5600" dirty="0"/>
          </a:p>
        </p:txBody>
      </p:sp>
      <p:sp>
        <p:nvSpPr>
          <p:cNvPr id="4" name="Text 1"/>
          <p:cNvSpPr/>
          <p:nvPr/>
        </p:nvSpPr>
        <p:spPr>
          <a:xfrm>
            <a:off x="1371600" y="1554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壹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920240" y="15544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19456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案件緣起 — Genesys 11/01 與玉山痛點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371600" y="2057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貳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920240" y="20574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194560" y="20574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解決方案 Overview — VOXEN + 3CX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371600" y="2560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920240" y="2560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.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194560" y="2560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整體架構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371600" y="3063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肆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920240" y="3063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.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2194560" y="3063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Why 3CX  ★  本場核心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371600" y="3566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伍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920240" y="35661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.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2194560" y="35661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Migration Strategy 與三層安全網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371600" y="4069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陸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920240" y="40690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.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2194560" y="40690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時程與里程碑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371600" y="4572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柒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1920240" y="45720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.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2194560" y="4572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商業條款（議約框架）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1371600" y="5074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捌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1920240" y="50749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.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2194560" y="50749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 Copilot 共存空間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1371600" y="5577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玖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1920240" y="55778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.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2194560" y="55778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下一步行動 + 現場 Demo</a:t>
            </a:r>
            <a:endParaRPr lang="en-US" sz="200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66560"/>
            <a:ext cx="12191695" cy="9144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1133856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5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10A0A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壹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4389120" y="2926080"/>
            <a:ext cx="0" cy="1371600"/>
          </a:xfrm>
          <a:prstGeom prst="line">
            <a:avLst/>
          </a:prstGeom>
          <a:noFill/>
          <a:ln w="25400">
            <a:solidFill>
              <a:srgbClr val="4EB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0" y="27432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案件緣起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754880" y="36576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4EB7A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Genesys 11/01 到期 與 玉山現有外撥系統痛點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766560"/>
            <a:ext cx="12191695" cy="91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0" y="228600"/>
            <a:ext cx="13716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壹.  案件緣起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為什麼此時做？四大驅動因素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5394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828800"/>
            <a:ext cx="91440" cy="1920240"/>
          </a:xfrm>
          <a:prstGeom prst="rect">
            <a:avLst/>
          </a:prstGeom>
          <a:solidFill>
            <a:srgbClr val="C530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463040" y="20116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53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硬性時間約束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26060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Genesys Engage 合約於 2026/11/01 到期。Go-live 6/30 後保留 4 個月並行緩衝期，確保零強制風險。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09360" y="1828800"/>
            <a:ext cx="5394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09360" y="1828800"/>
            <a:ext cx="91440" cy="1920240"/>
          </a:xfrm>
          <a:prstGeom prst="rect">
            <a:avLst/>
          </a:prstGeom>
          <a:solidFill>
            <a:srgbClr val="D69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0" y="2011680"/>
            <a:ext cx="502920" cy="502920"/>
          </a:xfrm>
          <a:prstGeom prst="ellipse">
            <a:avLst/>
          </a:prstGeom>
          <a:solidFill>
            <a:srgbClr val="D69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223760" y="20116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9E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成本過高 / 利用率低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83680" y="26060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授權費 + 維護費逐年攀升；玉山使用集中於 outbound 場景，許多 Genesys 模組「買了沒用」。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4023360"/>
            <a:ext cx="5394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4023360"/>
            <a:ext cx="91440" cy="1920240"/>
          </a:xfrm>
          <a:prstGeom prst="rect">
            <a:avLst/>
          </a:prstGeom>
          <a:solidFill>
            <a:srgbClr val="D69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960" y="4206240"/>
            <a:ext cx="502920" cy="502920"/>
          </a:xfrm>
          <a:prstGeom prst="ellipse">
            <a:avLst/>
          </a:prstGeom>
          <a:solidFill>
            <a:srgbClr val="D69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463040" y="4206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9E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代理商支援不足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22960" y="48006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國內 Genesys 代理商資源有限，重大問題回應深度不足，造成生產風險。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309360" y="4023360"/>
            <a:ext cx="5394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309360" y="4023360"/>
            <a:ext cx="91440" cy="1920240"/>
          </a:xfrm>
          <a:prstGeom prst="rect">
            <a:avLst/>
          </a:prstGeom>
          <a:solidFill>
            <a:srgbClr val="C530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583680" y="4206240"/>
            <a:ext cx="502920" cy="50292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8368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7223760" y="4206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53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廠商鎖定（Vendor Lock-in）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583680" y="48006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Genesys 客製化高、移轉成本高、Source Code 不透明；長期續約等於變相強迫上 Genesys Cloud。</a:t>
            </a:r>
            <a:endParaRPr lang="en-US" sz="120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66560"/>
            <a:ext cx="12191695" cy="9144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133856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0" y="228600"/>
            <a:ext cx="13716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壹.  案件緣起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玉山的決策窗口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325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從評估到 Go-live 的關鍵時點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914400" y="4114800"/>
            <a:ext cx="1005840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43584" y="3986784"/>
            <a:ext cx="256032" cy="256032"/>
          </a:xfrm>
          <a:prstGeom prst="ellipse">
            <a:avLst/>
          </a:prstGeom>
          <a:solidFill>
            <a:srgbClr val="2C988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2026-04-26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 review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529584" y="3986784"/>
            <a:ext cx="256032" cy="256032"/>
          </a:xfrm>
          <a:prstGeom prst="ellipse">
            <a:avLst/>
          </a:prstGeom>
          <a:solidFill>
            <a:srgbClr val="10A0A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議約完成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74320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4320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SOW 簽署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815584" y="3986784"/>
            <a:ext cx="256032" cy="256032"/>
          </a:xfrm>
          <a:prstGeom prst="ellipse">
            <a:avLst/>
          </a:prstGeom>
          <a:solidFill>
            <a:srgbClr val="2C988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SIT/UAT/PAT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02920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02920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雙方驗收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0" y="3931920"/>
            <a:ext cx="365760" cy="365760"/>
          </a:xfrm>
          <a:prstGeom prst="ellipse">
            <a:avLst/>
          </a:prstGeom>
          <a:solidFill>
            <a:srgbClr val="C5303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Go-live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31520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2026-06-30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31520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Pilot 50 席試跑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0332720" y="3931920"/>
            <a:ext cx="365760" cy="365760"/>
          </a:xfrm>
          <a:prstGeom prst="ellipse">
            <a:avLst/>
          </a:prstGeom>
          <a:solidFill>
            <a:srgbClr val="C5303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60120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Genesys 退場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60120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2026-11-01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960120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合約到期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48640" y="1783080"/>
            <a:ext cx="11064240" cy="1417320"/>
          </a:xfrm>
          <a:prstGeom prst="rect">
            <a:avLst/>
          </a:prstGeom>
          <a:solidFill>
            <a:srgbClr val="D4F0F1"/>
          </a:solidFill>
          <a:ln w="12700">
            <a:solidFill>
              <a:srgbClr val="10A0A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77240" y="187452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50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65 天到 Go-live + 4 個月並行緩衝期</a:t>
            </a:r>
            <a:endParaRPr lang="en-US" sz="18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時程很緊但安全網充足 — Go-live 後到 Genesys 退場仍有 4 個月雙系統並行，提供「零強制風險」之心理安全墊。任何階段發現重大問題可隨時 Rollback 回 Genesys。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E50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一句話：玉山現在不做決定，下半年才動，Go-live 將擠在 11/01 deadline 邊緣 — 沒有緩衝可言。</a:t>
            </a:r>
            <a:endParaRPr lang="en-US" sz="1300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66560"/>
            <a:ext cx="12191695" cy="9144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1133856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5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10A0A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貳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4389120" y="2926080"/>
            <a:ext cx="0" cy="1371600"/>
          </a:xfrm>
          <a:prstGeom prst="line">
            <a:avLst/>
          </a:prstGeom>
          <a:noFill/>
          <a:ln w="25400">
            <a:solidFill>
              <a:srgbClr val="4EB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0" y="27432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解決方案 Overview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754880" y="36576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4EB7A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VOXEN + 3CX + 沿用瑛聲既有資產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766560"/>
            <a:ext cx="12191695" cy="91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0" y="228600"/>
            <a:ext cx="13716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貳.  解決方案 Overview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三句話講清楚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110642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828800"/>
            <a:ext cx="1280160" cy="1280160"/>
          </a:xfrm>
          <a:prstGeom prst="rect">
            <a:avLst/>
          </a:prstGeom>
          <a:solidFill>
            <a:srgbClr val="D69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8288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替換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2011680" y="196596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50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替換 Genesys 為 3CX V20 PBX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011680" y="246888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取代 Genesys Engage（PBX + Routing + 錄音引擎）→ 由 3CX V20 + VOXEN L5 編排層接手；瑛聲 3CX Premium Partner 全程支援。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291840"/>
            <a:ext cx="110642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3291840"/>
            <a:ext cx="1280160" cy="1280160"/>
          </a:xfrm>
          <a:prstGeom prst="rect">
            <a:avLst/>
          </a:prstGeom>
          <a:solidFill>
            <a:srgbClr val="2C98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32918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沿用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2011680" y="342900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50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沿用瑛聲既有資產（OPEN / 致行 / 錄音管理介面）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011680" y="393192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OPEN/TeleSA（450 用戶）+ 智能外撥語音機器人（致行，212 並發）+ 錄音管理介面 — 瑛聲既有產品，介面層完整保留 + 改連 3CX。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4754880"/>
            <a:ext cx="1280160" cy="1280160"/>
          </a:xfrm>
          <a:prstGeom prst="rect">
            <a:avLst/>
          </a:prstGeom>
          <a:solidFill>
            <a:srgbClr val="10A0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47548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新部署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2011680" y="489204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50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新部署 VOXEN 平台中介層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2011680" y="539496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 360 + 互動歷程 + 路由引擎 + 規則引擎 + 對話流引擎；重建玉山 Last-Agent Routing 等業務邏輯。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 玉山熟悉的體驗不變，後端基礎設施全面升級。</a:t>
            </a:r>
            <a:endParaRPr lang="en-US" sz="14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66560"/>
            <a:ext cx="12191695" cy="9144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133856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25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0" y="228600"/>
            <a:ext cx="13716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貳.  解決方案 Overview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元件對照速查表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325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從玉山 IT 視角清楚知道每個元件如何處理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4712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5120640"/>
                <a:gridCol w="2651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玉山現況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988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本案處理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988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替換 / 沿用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988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Genesys Engage PBX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3CX V20 + HA Cluster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9E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替換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Genesys URS + Routing Strategy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VOXEN 路由引擎 + 規則引擎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9E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替換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Genesys Stat Server (Last-Agent)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VOXEN 客戶 360 + 互動歷程資料庫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9E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替換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Genesys 原生錄音引擎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3CX 內建錄音 + 寫入玉山 NAS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9E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替換（底層）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錄音管理介面（瑛聲既有）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介面層完全保留 + 改連 3CX metadata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988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沿用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OPEN / TeleSA（450 用戶）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系統主體沿用 + Call Control 改 3CX 介接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988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沿用 + 改造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智能外撥語音機器人 (212 並發)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對外品牌「致行」+ SIP 介接改 3CX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988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沿用 + 改造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座席桌面（OPEN/TeleSA 既有）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沿用 UI + 整合 3CX Call Control + 增強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988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沿用 + 增強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主管桌面（OPEN/TeleSA 既有）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沿用 UI + 新增即時儀表板 + 主管介入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988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沿用 + 增強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E50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關鍵原則：底層引擎更換不可避免，但體驗層 + 現有資產盡可能沿用 → 最小化使用者衝擊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66560"/>
            <a:ext cx="12191695" cy="914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33856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25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0" y="228600"/>
            <a:ext cx="13716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參.  整體架構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VOXEN + 3CX + 沿用瑛聲既有資產（5 層整合）</a:t>
            </a:r>
            <a:endParaRPr lang="en-US" sz="2600" dirty="0"/>
          </a:p>
        </p:txBody>
      </p:sp>
      <p:pic>
        <p:nvPicPr>
          <p:cNvPr id="5" name="Image 1" descr="/sessions/serene-trusting-bell/mnt/VOXEN/docs/proposals/eSun/diagrams/sow-fig-01-architectur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1691640"/>
            <a:ext cx="11247120" cy="45720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66560"/>
            <a:ext cx="12191695" cy="914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133856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25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參.  整體架構  ·  放大檢視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0" y="91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（直接看圖；細節與標籤請對照本頁，視覺密度較高）</a:t>
            </a:r>
            <a:endParaRPr lang="en-US" sz="1000" dirty="0"/>
          </a:p>
        </p:txBody>
      </p:sp>
      <p:pic>
        <p:nvPicPr>
          <p:cNvPr id="4" name="Image 0" descr="/sessions/serene-trusting-bell/mnt/VOXEN/docs/proposals/eSun/diagrams/sow-fig-01-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457200"/>
            <a:ext cx="11612880" cy="626364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66560"/>
            <a:ext cx="12191695" cy="914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33856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5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10A0A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肆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4389120" y="2926080"/>
            <a:ext cx="0" cy="1371600"/>
          </a:xfrm>
          <a:prstGeom prst="line">
            <a:avLst/>
          </a:prstGeom>
          <a:noFill/>
          <a:ln w="25400">
            <a:solidFill>
              <a:srgbClr val="4EB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0" y="27432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Why 3CX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754880" y="36576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4EB7A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本場核心 — 為何瑛聲選 3CX，而非自行開發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766560"/>
            <a:ext cx="12191695" cy="91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25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0" y="228600"/>
            <a:ext cx="13716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肆.  Why 3CX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玉山曾期待的選項：由瑛聲自行開發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691640"/>
            <a:ext cx="73152" cy="1097280"/>
          </a:xfrm>
          <a:prstGeom prst="rect">
            <a:avLst/>
          </a:prstGeom>
          <a:solidFill>
            <a:srgbClr val="10A0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169164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「能不能由瑛聲自行開發類似 Asterisk / FreePBX 的 PBX 解決方案？」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 玉山 IT 團隊 在初期評估階段提出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3017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50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這個期待背後有三個合理動機，我們完全理解：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2C98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188720" y="3611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0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徹底擺脫廠商鎖定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88720" y="39776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 Genesys 鎖死多年 → 想要一個「我們完全擁有」的方案，沒有任何廠商風險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2C98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188720" y="4480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0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降低長期 TCO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88720" y="4846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商業 PBX 授權費高 → 自開發後僅承擔人力成本，理論上最省錢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5394960"/>
            <a:ext cx="502920" cy="502920"/>
          </a:xfrm>
          <a:prstGeom prst="ellipse">
            <a:avLst/>
          </a:prstGeom>
          <a:solidFill>
            <a:srgbClr val="2C98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5394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188720" y="5349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0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深度客製空間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88720" y="57150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玉山 outbound 業務有獨特需求 → 自開發可任意調整，不受廠商功能限制</a:t>
            </a:r>
            <a:endParaRPr lang="en-US" sz="12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66560"/>
            <a:ext cx="12191695" cy="914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133856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25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0" y="228600"/>
            <a:ext cx="13716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肆.  Why 3CX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瑛聲的內部評估與取捨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691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我們認真評估了「自開發 PBX」的可行性，最終選擇引進 3CX 之核心理由：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2286000"/>
            <a:ext cx="5029200" cy="685800"/>
          </a:xfrm>
          <a:prstGeom prst="rect">
            <a:avLst/>
          </a:prstGeom>
          <a:solidFill>
            <a:srgbClr val="FFF5F5"/>
          </a:solidFill>
          <a:ln w="9525">
            <a:solidFill>
              <a:srgbClr val="C5303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時程現實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" y="25603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自開發 PBX 達到生產等級穩定性需 6-12 個月；玉山 6/30 Go-live 不能等。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9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943600" y="2286000"/>
            <a:ext cx="5760720" cy="685800"/>
          </a:xfrm>
          <a:prstGeom prst="rect">
            <a:avLst/>
          </a:prstGeom>
          <a:solidFill>
            <a:srgbClr val="F0FAFB"/>
          </a:solidFill>
          <a:ln w="9525">
            <a:solidFill>
              <a:srgbClr val="10A0A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80760" y="22860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50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3CX 套件化部署 2-4 週可達生產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3063240"/>
            <a:ext cx="5029200" cy="685800"/>
          </a:xfrm>
          <a:prstGeom prst="rect">
            <a:avLst/>
          </a:prstGeom>
          <a:solidFill>
            <a:srgbClr val="FFF5F5"/>
          </a:solidFill>
          <a:ln w="9525">
            <a:solidFill>
              <a:srgbClr val="C5303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108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生產穩定性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4360" y="33375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Asterisk 雖是成熟核心，但金融業 7×24 / 99.95% 之穩定性需大量測試與在地壓力驗證。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9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943600" y="3063240"/>
            <a:ext cx="5760720" cy="685800"/>
          </a:xfrm>
          <a:prstGeom prst="rect">
            <a:avLst/>
          </a:prstGeom>
          <a:solidFill>
            <a:srgbClr val="F0FAFB"/>
          </a:solidFill>
          <a:ln w="9525">
            <a:solidFill>
              <a:srgbClr val="10A0A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80760" y="30632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50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3CX 全球 60 萬+ 客戶已驗證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840480"/>
            <a:ext cx="5029200" cy="685800"/>
          </a:xfrm>
          <a:prstGeom prst="rect">
            <a:avLst/>
          </a:prstGeom>
          <a:solidFill>
            <a:srgbClr val="FFF5F5"/>
          </a:solidFill>
          <a:ln w="9525">
            <a:solidFill>
              <a:srgbClr val="C5303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3886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原廠後盾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94360" y="4114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生產環境 P1 事件，需有原廠 Tier-3 工程支援，而非僅依賴單一廠商之內部團隊。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9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5943600" y="3840480"/>
            <a:ext cx="5760720" cy="685800"/>
          </a:xfrm>
          <a:prstGeom prst="rect">
            <a:avLst/>
          </a:prstGeom>
          <a:solidFill>
            <a:srgbClr val="F0FAFB"/>
          </a:solidFill>
          <a:ln w="9525">
            <a:solidFill>
              <a:srgbClr val="10A0A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80760" y="38404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50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瑛聲為 3CX Premium Partner，授權直接代表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4617720"/>
            <a:ext cx="5029200" cy="685800"/>
          </a:xfrm>
          <a:prstGeom prst="rect">
            <a:avLst/>
          </a:prstGeom>
          <a:solidFill>
            <a:srgbClr val="FFF5F5"/>
          </a:solidFill>
          <a:ln w="9525">
            <a:solidFill>
              <a:srgbClr val="C5303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4360" y="4663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人才接班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94360" y="48920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Asterisk 深度專家市場稀少；玉山 IT 未來換人時人才流動風險高。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48640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9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5943600" y="4617720"/>
            <a:ext cx="5760720" cy="685800"/>
          </a:xfrm>
          <a:prstGeom prst="rect">
            <a:avLst/>
          </a:prstGeom>
          <a:solidFill>
            <a:srgbClr val="F0FAFB"/>
          </a:solidFill>
          <a:ln w="9525">
            <a:solidFill>
              <a:srgbClr val="10A0A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080760" y="46177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50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3CX 為主流商業 PBX，學習曲線平緩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57200" y="5394960"/>
            <a:ext cx="5029200" cy="685800"/>
          </a:xfrm>
          <a:prstGeom prst="rect">
            <a:avLst/>
          </a:prstGeom>
          <a:solidFill>
            <a:srgbClr val="FFF5F5"/>
          </a:solidFill>
          <a:ln w="9525">
            <a:solidFill>
              <a:srgbClr val="C5303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5440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 patch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94360" y="56692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自開發需自行追蹤 SIP / 媒體層所有 CVE 與 patch；對金融業合規負擔重。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486400" y="5577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9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5943600" y="5394960"/>
            <a:ext cx="5760720" cy="685800"/>
          </a:xfrm>
          <a:prstGeom prst="rect">
            <a:avLst/>
          </a:prstGeom>
          <a:solidFill>
            <a:srgbClr val="F0FAFB"/>
          </a:solidFill>
          <a:ln w="9525">
            <a:solidFill>
              <a:srgbClr val="10A0A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080760" y="53949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50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3CX 原廠統一 patch / hotfix 體系</a:t>
            </a:r>
            <a:endParaRPr lang="en-US" sz="1200" dirty="0"/>
          </a:p>
        </p:txBody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66560"/>
            <a:ext cx="12191695" cy="9144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1133856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0" y="228600"/>
            <a:ext cx="13716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肆.  Why 3CX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關鍵取捨對照矩陣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691640"/>
            <a:ext cx="73152" cy="777240"/>
          </a:xfrm>
          <a:prstGeom prst="rect">
            <a:avLst/>
          </a:prstGeom>
          <a:solidFill>
            <a:srgbClr val="10A0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1691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我們聽到了 — 並認真評估過。本表攤開兩條路的逐維度比較。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11247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114800"/>
                <a:gridCol w="50292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維度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988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瑛聲自開發 PBX (Asterisk-based)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988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VOXEN + 3CX（本案方案）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988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交付時程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6-12 個月（含開發 + 測試 + 穩定化）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988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配合 6/30 Go-live ✓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原廠工程支援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 — 僅瑛聲科技內部團隊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988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3CX 原廠 Tier-3 + 瑛聲 Premium Partner ✓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全球客戶基礎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 — 玉山是首位用戶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988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 萬+ 全球客戶（含金融業多家銀行）✓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HA / 高可用性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需自行設計 + 持續維運投入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988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原生 HA Cluster + 自動 failover ≤ 30 秒 ✓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長期維護成本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高（技術債 + 相依套件升級 + 安全更新全自負）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988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可預期（年度維護費含原廠 patch + 在地支援）✓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人才招聘 / 接班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困難（市場上少有 Asterisk 深度專家）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988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相對容易（3CX 為主流商業 PBX）✓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整合 VOXEN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需另開發 Adapter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988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無縫接軌 — VOXEN 之 3CX Adapter 多年驗證 ✓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66560"/>
            <a:ext cx="12191695" cy="914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33856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25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0" y="228600"/>
            <a:ext cx="13716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肆.  Why 3CX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3CX 在全球與金融業的規模實證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828800"/>
            <a:ext cx="2743200" cy="1463040"/>
          </a:xfrm>
          <a:prstGeom prst="rect">
            <a:avLst/>
          </a:prstGeom>
          <a:solidFill>
            <a:srgbClr val="D4F0F1"/>
          </a:solidFill>
          <a:ln w="19050">
            <a:solidFill>
              <a:srgbClr val="10A0A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920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5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萬+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50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全球付費客戶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189 個國家 / 地區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83280" y="1828800"/>
            <a:ext cx="2743200" cy="1463040"/>
          </a:xfrm>
          <a:prstGeom prst="rect">
            <a:avLst/>
          </a:prstGeom>
          <a:solidFill>
            <a:srgbClr val="D4F0F1"/>
          </a:solidFill>
          <a:ln w="19050">
            <a:solidFill>
              <a:srgbClr val="10A0A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83280" y="1920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5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338328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50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 IP-PBX 排名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38328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僅次於 Cisco / Avaya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309360" y="1828800"/>
            <a:ext cx="2743200" cy="1463040"/>
          </a:xfrm>
          <a:prstGeom prst="rect">
            <a:avLst/>
          </a:prstGeom>
          <a:solidFill>
            <a:srgbClr val="D4F0F1"/>
          </a:solidFill>
          <a:ln w="19050">
            <a:solidFill>
              <a:srgbClr val="10A0A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09360" y="1920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5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630936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50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全球年資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0936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Cyprus 母公司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9235440" y="1828800"/>
            <a:ext cx="2743200" cy="1463040"/>
          </a:xfrm>
          <a:prstGeom prst="rect">
            <a:avLst/>
          </a:prstGeom>
          <a:solidFill>
            <a:srgbClr val="D4F0F1"/>
          </a:solidFill>
          <a:ln w="19050">
            <a:solidFill>
              <a:srgbClr val="10A0A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235440" y="1920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5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7×24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923544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50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全球工程支援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23544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Tier-3 體系完整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3657600"/>
            <a:ext cx="112471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3749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0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金融業客戶分布概覽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40080" y="41148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3CX 之金融業客戶涵蓋商業銀行、保險公司、證券業、消費金融、信用合作社等領域。具體可遵守 NDA 之 reference list 將於議約階段提供：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4008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國際銀行業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383280" y="47091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中東地區數家商業銀行（500-2,000 席）/ 拉美地區大型銀行集團 / 東歐合作社銀行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0080" y="5029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亞太金融業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383280" y="5029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日本地方銀行 / 馬來西亞商業銀行 / 印尼金控集團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40080" y="5349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保險與證券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383280" y="53492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英國保險集團 / 美國證券公司 / 歐洲再保險業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40080" y="5669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台灣本地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3383280" y="5669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由瑛聲交付之 3CX 部署涵蓋多個產業（金融業細節 NDA 限制，可口頭交流）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E50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換句話說：玉山不是 3CX 的「實驗品」 — 是進入一個經過全球驗證、其他金融業前輩已踩過坑的成熟生態。</a:t>
            </a:r>
            <a:endParaRPr lang="en-US" sz="1200" dirty="0"/>
          </a:p>
        </p:txBody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66560"/>
            <a:ext cx="12191695" cy="9144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1133856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0" y="228600"/>
            <a:ext cx="13716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肆.  Why 3CX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Premium Partner 加持 — 玉山的兩道後盾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E50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當玉山遇到問題時，您不是只有一個電話可以打。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2377440"/>
            <a:ext cx="5394960" cy="3657600"/>
          </a:xfrm>
          <a:prstGeom prst="rect">
            <a:avLst/>
          </a:prstGeom>
          <a:solidFill>
            <a:srgbClr val="D4F0F1"/>
          </a:solidFill>
          <a:ln w="19050">
            <a:solidFill>
              <a:srgbClr val="10A0A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514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50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 3CX 原廠（Cyprus 總部）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2971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 60 萬+ 客戶之集體後盾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Tier-3 工程團隊直通（典型上升 &lt; 4 小時）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3794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優先 patch / hotfix 取得權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4206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Premium Partner 限定之 KB / 內部文件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4617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直接參與 3CX 產品 Roadmap 反饋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5029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原廠工程師可遠端介入重大事件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309360" y="2377440"/>
            <a:ext cx="5394960" cy="3657600"/>
          </a:xfrm>
          <a:prstGeom prst="rect">
            <a:avLst/>
          </a:prstGeom>
          <a:solidFill>
            <a:srgbClr val="D4F0F1"/>
          </a:solidFill>
          <a:ln w="19050">
            <a:solidFill>
              <a:srgbClr val="10A0A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92240" y="2514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50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 瑛聲科技（在地一線）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492240" y="2971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與玉山有多年合作之熟悉夥伴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9224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P1 事件 1 小時內回應、4 小時內解決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92240" y="3794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7×24 中文母語在地服務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92240" y="4206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對玉山現有 OPEN/TeleSA + Copilot 生態最熟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92240" y="4617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中文文件 / KT / 訓練親自交付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92240" y="5029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預設熟悉玉山業務流程與術語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53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對比 Genesys 代理商：玉山碰到的「資源不足」問題，在 Premium Partner 體系下不會發生。</a:t>
            </a:r>
            <a:endParaRPr lang="en-US" sz="12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66560"/>
            <a:ext cx="12191695" cy="9144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133856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0" y="228600"/>
            <a:ext cx="13716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肆.  Why 3CX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Source Code Escrow — 直接破解「自主性焦慮」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691640"/>
            <a:ext cx="11247120" cy="1188720"/>
          </a:xfrm>
          <a:prstGeom prst="rect">
            <a:avLst/>
          </a:prstGeom>
          <a:solidFill>
            <a:srgbClr val="D4F0F1"/>
          </a:solidFill>
          <a:ln w="25400">
            <a:solidFill>
              <a:srgbClr val="10A0A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78308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53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承諾：</a:t>
            </a:r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瑛聲自家程式碼（VOXEN 整合層 / TeleSA / 致行）將託管於第三方公正單位（Escrow Agent）。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i="1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萬一瑛聲出現變故，玉山仍能取得完整 Source Code 自行維護系統運作 — Genesys 不提供此保障。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3108960"/>
            <a:ext cx="36118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3108960"/>
            <a:ext cx="3611880" cy="502920"/>
          </a:xfrm>
          <a:prstGeom prst="rect">
            <a:avLst/>
          </a:prstGeom>
          <a:solidFill>
            <a:srgbClr val="2C98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1089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 託管範圍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3703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VOXEN 整合層 Source Code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4160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TeleSA Source Code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4617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致行 (OUTREACH) Source Code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5074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完整 build / deploy 文件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55321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技術 KT 文件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251960" y="3108960"/>
            <a:ext cx="36118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51960" y="3108960"/>
            <a:ext cx="3611880" cy="502920"/>
          </a:xfrm>
          <a:prstGeom prst="rect">
            <a:avLst/>
          </a:prstGeom>
          <a:solidFill>
            <a:srgbClr val="2C98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51960" y="31089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 觸發條件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434840" y="3703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瑛聲解散 / 進入清算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434840" y="4160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連續 90 天無法提供合約承諾之服務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434840" y="4617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其他玉山與瑛聲議定之條件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046720" y="3108960"/>
            <a:ext cx="36118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46720" y="3108960"/>
            <a:ext cx="3611880" cy="502920"/>
          </a:xfrm>
          <a:prstGeom prst="rect">
            <a:avLst/>
          </a:prstGeom>
          <a:solidFill>
            <a:srgbClr val="2C98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46720" y="31089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 託管機構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229600" y="3703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由玉山選定第三方公正單位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229600" y="4160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典型如 Iron Mountain / NCC Group / 在地律師事務所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229600" y="4617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每季更新 + 重大版本即時更新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229600" y="5074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玉山可定期請第三方稽核驗證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53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這是 Genesys 不提供的承諾 — 等於把「廠商風險」這個變數從玉山的決策方程式中移除。</a:t>
            </a:r>
            <a:endParaRPr lang="en-US" sz="120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66560"/>
            <a:ext cx="12191695" cy="9144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133856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0" y="228600"/>
            <a:ext cx="13716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肆.  Why 3CX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玉山 IT 預期會問的問題（1/2）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783080"/>
            <a:ext cx="112471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965960"/>
            <a:ext cx="548640" cy="54864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325880" y="19659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「3CX 會不會像 Genesys 一樣被廠商鎖死？」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2560320"/>
            <a:ext cx="548640" cy="548640"/>
          </a:xfrm>
          <a:prstGeom prst="ellipse">
            <a:avLst/>
          </a:prstGeom>
          <a:solidFill>
            <a:srgbClr val="2C98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325880" y="25603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3CX 是商業產品但底層走 SIP / SBC / WebRTC 開放標準，加上 Source Code Escrow 雙重保險，鎖定風險低於 Genesys 一個等級。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3337560"/>
            <a:ext cx="112471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3520440"/>
            <a:ext cx="548640" cy="54864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325880" y="35204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「為什麼不是 Asterisk？我們本來想自己做。」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4114800"/>
            <a:ext cx="548640" cy="548640"/>
          </a:xfrm>
          <a:prstGeom prst="ellipse">
            <a:avLst/>
          </a:prstGeom>
          <a:solidFill>
            <a:srgbClr val="2C98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325880" y="41148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 3CX 在功能上勝過 Asterisk，而是「3CX + 瑛聲」比「Asterisk + 瑛聲開發」更符合玉山時程與穩定性需求。詳見「對照矩陣」章節。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4892040"/>
            <a:ext cx="112471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0080" y="5074920"/>
            <a:ext cx="548640" cy="54864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5074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1325880" y="50749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「如果 3CX 出問題誰負責？」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40080" y="5669280"/>
            <a:ext cx="548640" cy="548640"/>
          </a:xfrm>
          <a:prstGeom prst="ellipse">
            <a:avLst/>
          </a:prstGeom>
          <a:solidFill>
            <a:srgbClr val="2C98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" y="5669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1325880" y="56692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兩道後盾：3CX 原廠 Tier-3 工程團隊（&lt; 4h 上升）+ 瑛聲 Premium Partner 在地一線（P1 &lt; 1h）。比找 Genesys 代理商「一個電話兩家負責」。</a:t>
            </a:r>
            <a:endParaRPr lang="en-US" sz="12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66560"/>
            <a:ext cx="12191695" cy="9144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133856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0" y="228600"/>
            <a:ext cx="13716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肆.  Why 3CX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玉山 IT 預期會問的問題（2/2）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783080"/>
            <a:ext cx="112471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965960"/>
            <a:ext cx="548640" cy="54864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325880" y="19659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「3CX 真的能扛 450 席 + 212 並發 bot？銀行業？」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2560320"/>
            <a:ext cx="548640" cy="548640"/>
          </a:xfrm>
          <a:prstGeom prst="ellipse">
            <a:avLst/>
          </a:prstGeom>
          <a:solidFill>
            <a:srgbClr val="2C98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325880" y="25603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是。3CX 全球客戶涵蓋金融業（含保險 / 證券 / 商業銀行），單一部署可達 5,000+ 並發；450 席屬於「中型」規模。Premium Partner 平台有原廠加持的容量規劃工具。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3337560"/>
            <a:ext cx="112471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3520440"/>
            <a:ext cx="548640" cy="54864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325880" y="35204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「3CX 自己會不會也走向 Cloud-only 像 Genesys？」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4114800"/>
            <a:ext cx="548640" cy="548640"/>
          </a:xfrm>
          <a:prstGeom prst="ellipse">
            <a:avLst/>
          </a:prstGeom>
          <a:solidFill>
            <a:srgbClr val="2C98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325880" y="41148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3CX 母公司商業模式以 on-prem / Hybrid 為主軸，沒有強迫上雲跡象。如果哪天真的有，VOXEN Adapter 架構可以隨時加新 PBX（Asterisk / Teams Phone / FreePBX），不會被綁死。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4892040"/>
            <a:ext cx="112471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0080" y="5074920"/>
            <a:ext cx="548640" cy="54864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5074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1325880" y="50749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「整合到玉山現有 Copilot 系統上會不會打架？」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40080" y="5669280"/>
            <a:ext cx="548640" cy="548640"/>
          </a:xfrm>
          <a:prstGeom prst="ellipse">
            <a:avLst/>
          </a:prstGeom>
          <a:solidFill>
            <a:srgbClr val="2C98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" y="5669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1325880" y="56692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不會。Copilot 是 inbound 智能輔助；本案 Outreach 是 outbound 基礎設施 — 兩者技術棧獨立、Routing 範疇不重疊。詳見「捌. 與 Copilot 共存空間」。</a:t>
            </a:r>
            <a:endParaRPr lang="en-US" sz="12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66560"/>
            <a:ext cx="12191695" cy="9144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133856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25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0" y="228600"/>
            <a:ext cx="13716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伍.  Migration Strategy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雙系統並行 + 分批切換 + 三層安全網</a:t>
            </a:r>
            <a:endParaRPr lang="en-US" sz="2600" dirty="0"/>
          </a:p>
        </p:txBody>
      </p:sp>
      <p:pic>
        <p:nvPicPr>
          <p:cNvPr id="5" name="Image 1" descr="/sessions/serene-trusting-bell/mnt/VOXEN/docs/proposals/eSun/diagrams/sow-fig-02-migration-strateg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1600200"/>
            <a:ext cx="11247120" cy="466344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66560"/>
            <a:ext cx="12191695" cy="914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133856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0" y="228600"/>
            <a:ext cx="13716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陸.  時程與里程碑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Kick-off 到 Genesys 退場  ·  總計約 26 週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  <a:gridCol w="73152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週次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988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988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里程碑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988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04-27 起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專案啟動 / SOW 議約 / Kick-off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W1-W3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05-04 ~ 05-24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主開發第一波（PBX + OPEN + 致行 + 錄音）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W4-W5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05-25 ~ 06-07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主開發第二波（Routing + 桌面增強）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W6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06-08 ~ 06-14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69E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SIT 系統整合測試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W7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06-15 ~ 06-21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69E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UAT 使用者驗收（玉山業務代表參與）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W8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06-22 ~ 06-28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69E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PAT 生產驗收測試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530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W9 ★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530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06-29 ~ 07-05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530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Go-live 標誌日 06-30 + Pilot 50 席試跑啟動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W10-W11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07-06 ~ 07-19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Pilot 2 週觀察 + 評估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W12-W15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07-20 ~ 08-16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988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分批擴大至 450 席（3-4 批）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W16-W17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08-17 ~ 08-30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Hypercare 高密度支援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W22+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09-28+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BAU Steady State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530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W26 ★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530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11-01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530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Genesys 退場 / 合約終止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E50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緊度評估：W0-W9 共 9 週完成 SIT/UAT/PAT/Go-live 屬於緊但可行 — 前提：玉山方依時提供整合資料與資源。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66560"/>
            <a:ext cx="12191695" cy="914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33856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25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0" y="228600"/>
            <a:ext cx="13716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柒.  商業條款（議約框架）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本頁僅列框架；具體條件以正式議約為準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691640"/>
            <a:ext cx="36118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691640"/>
            <a:ext cx="3611880" cy="502920"/>
          </a:xfrm>
          <a:prstGeom prst="rect">
            <a:avLst/>
          </a:prstGeom>
          <a:solidFill>
            <a:srgbClr val="2C98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6916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 授權模式建議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2331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永久授權 + 年度維護費（典型 18-22% 授權費 / 年）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2834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包含原廠 patch / 在地一線 SLA / 知識庫存取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3337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AI 用量（致行 212 並發）採固定授權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" y="3840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額外擴充（如新增席次）按級距加購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51960" y="1691640"/>
            <a:ext cx="36118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51960" y="1691640"/>
            <a:ext cx="3611880" cy="502920"/>
          </a:xfrm>
          <a:prstGeom prst="rect">
            <a:avLst/>
          </a:prstGeom>
          <a:solidFill>
            <a:srgbClr val="2C98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51960" y="16916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 付款里程碑（建議）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389120" y="2331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簽約：20%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389120" y="2834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Kick-off (W0)：15%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389120" y="3337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SIT 通過 (M03)：20%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389120" y="3840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UAT 通過 (M04)：15%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389120" y="4343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PAT + Go-live (M05+M06)：20%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389120" y="4846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Hypercare 完成 (M09)：10%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046720" y="1691640"/>
            <a:ext cx="36118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46720" y="1691640"/>
            <a:ext cx="3611880" cy="502920"/>
          </a:xfrm>
          <a:prstGeom prst="rect">
            <a:avLst/>
          </a:prstGeom>
          <a:solidFill>
            <a:srgbClr val="2C98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46720" y="16916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 SLA 違約 + 智財權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183880" y="2331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未達 SLA 月份按比例退維護費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183880" y="2834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連續 3 個月未達 SLA 觸發合約檢討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183880" y="3337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Source Code Escrow 同合約附件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183880" y="3840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VOXEN/TeleSA/致行 IP 屬瑛聲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183880" y="4343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玉山取得永久使用授權（非排他、不可轉讓）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預算範圍 / 具體價格將於議約階段提供 — 本頁僅列商業條款結構，給玉山採購規劃參考。</a:t>
            </a:r>
            <a:endParaRPr lang="en-US" sz="1200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66560"/>
            <a:ext cx="12191695" cy="9144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1133856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25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0" y="228600"/>
            <a:ext cx="13716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捌.  與 Copilot 共存空間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兩個專案：互補 ≠ 重疊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691640"/>
            <a:ext cx="5394960" cy="2286000"/>
          </a:xfrm>
          <a:prstGeom prst="rect">
            <a:avLst/>
          </a:prstGeom>
          <a:solidFill>
            <a:srgbClr val="D4F0F1"/>
          </a:solidFill>
          <a:ln w="19050">
            <a:solidFill>
              <a:srgbClr val="10A0A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0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客服 Copilot 專案 (Phase II)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286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Inbound 智能輔助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26974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知識庫 RAG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29443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對話分析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319125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客戶意圖理解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34381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答案推薦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368503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服務摘要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309360" y="1691640"/>
            <a:ext cx="5394960" cy="2286000"/>
          </a:xfrm>
          <a:prstGeom prst="rect">
            <a:avLst/>
          </a:prstGeom>
          <a:solidFill>
            <a:srgbClr val="F0FAFB"/>
          </a:solidFill>
          <a:ln w="19050">
            <a:solidFill>
              <a:srgbClr val="2C988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0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Outreach 案（本案）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92240" y="2286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Outbound 基礎設施 + AI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92240" y="26974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PBX 替換（3CX）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92240" y="29443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Routing 重建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92240" y="319125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致行 (語音機器人) 介接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92240" y="34381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座席 / 主管 桌面增強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92240" y="368503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錄音管理整合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897880" y="2606040"/>
            <a:ext cx="457200" cy="457200"/>
          </a:xfrm>
          <a:prstGeom prst="ellipse">
            <a:avLst/>
          </a:prstGeom>
          <a:solidFill>
            <a:srgbClr val="2C988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9788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457200" y="4206240"/>
            <a:ext cx="112471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" y="4343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0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兩個專案合在一起 = 玉山完整的 inbound + outbound AI 客服戰略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40080" y="4846320"/>
            <a:ext cx="10881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技術棧層面：Copilot 為獨立 codebase + 玉山自有技術；本案使用 VOXEN + 3CX。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範疇層面：Copilot 服務 inbound；本案處理 outbound 與 PBX 替換 — 不重疊、不打架。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未來整合空間：致行（OUTREACH）可被 Copilot 之知識庫/對話框架呼叫 — VOXEN 平台預留 MCP 介面，需求出現時可隨時對接。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簡單說：本案不是要取代 Copilot，是給玉山一個完整 AI 客服戰略中缺失的另一半。</a:t>
            </a:r>
            <a:endParaRPr lang="en-US" sz="120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66560"/>
            <a:ext cx="12191695" cy="9144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133856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0" y="228600"/>
            <a:ext cx="13716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玖.  下一步行動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本場簡報結束後，建議的後續節奏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783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50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立即行動建議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2331720"/>
            <a:ext cx="411480" cy="411480"/>
          </a:xfrm>
          <a:prstGeom prst="ellipse">
            <a:avLst/>
          </a:prstGeom>
          <a:solidFill>
            <a:srgbClr val="2C98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2331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本週內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377440" y="2331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玉山 IT 內部 Review 本提案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0" y="2331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玉山方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2926080"/>
            <a:ext cx="411480" cy="411480"/>
          </a:xfrm>
          <a:prstGeom prst="ellipse">
            <a:avLst/>
          </a:prstGeom>
          <a:solidFill>
            <a:srgbClr val="2C98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60120" y="2926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下週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377440" y="2926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雙方 1-2 次工作會議釐清細節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0" y="2926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雙方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3520440"/>
            <a:ext cx="411480" cy="411480"/>
          </a:xfrm>
          <a:prstGeom prst="ellipse">
            <a:avLst/>
          </a:prstGeom>
          <a:solidFill>
            <a:srgbClr val="2C98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60120" y="3520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兩週內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377440" y="3520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SOW Draft v0.5 → 議約版 v1.0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0" y="3520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瑛聲方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4114800"/>
            <a:ext cx="411480" cy="411480"/>
          </a:xfrm>
          <a:prstGeom prst="ellipse">
            <a:avLst/>
          </a:prstGeom>
          <a:solidFill>
            <a:srgbClr val="2C98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60120" y="4114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月底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2377440" y="4114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商業條款議約 + 正式合約簽署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0" y="41148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雙方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7200" y="4709160"/>
            <a:ext cx="411480" cy="411480"/>
          </a:xfrm>
          <a:prstGeom prst="ellipse">
            <a:avLst/>
          </a:prstGeom>
          <a:solidFill>
            <a:srgbClr val="2C98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4709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960120" y="4709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月初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377440" y="4709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 Kick-off (W0)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486400" y="47091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雙方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217920" y="1691640"/>
            <a:ext cx="5486400" cy="4572000"/>
          </a:xfrm>
          <a:prstGeom prst="rect">
            <a:avLst/>
          </a:prstGeom>
          <a:solidFill>
            <a:srgbClr val="D4F0F1"/>
          </a:solidFill>
          <a:ln w="19050">
            <a:solidFill>
              <a:srgbClr val="10A0A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00800" y="1828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0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 現場 Demo（10-15 min）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400800" y="2423160"/>
            <a:ext cx="51206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537960" y="2606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9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7178040" y="25146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50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致行外撥 + 平滑轉真人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7178040" y="28346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min · 證明既有資產 + 3CX 介接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400800" y="3337560"/>
            <a:ext cx="51206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537960" y="3520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9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7178040" y="3429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50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3CX HA Failover 實機演練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7178040" y="37490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min · 直擊「系統壞了怎麼辦」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400800" y="4251960"/>
            <a:ext cx="51206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537960" y="4434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9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7178040" y="4343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50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主管即時介入 + 錄音管理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7178040" y="46634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min · Whisper/Barge-in + 介面整合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6400800" y="5166360"/>
            <a:ext cx="51206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537960" y="5349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9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7178040" y="5257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50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Last-Agent Routing（備援）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7178040" y="55778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2-3 min · 時間夠才 demo</a:t>
            </a:r>
            <a:endParaRPr lang="en-US" sz="1000" dirty="0"/>
          </a:p>
        </p:txBody>
      </p:sp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66560"/>
            <a:ext cx="12191695" cy="91440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1133856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25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1645920"/>
            <a:ext cx="3017520" cy="1508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47472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C98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感謝聆聽  敬請指教</a:t>
            </a:r>
            <a:endParaRPr lang="en-US" sz="5600" dirty="0"/>
          </a:p>
        </p:txBody>
      </p:sp>
      <p:sp>
        <p:nvSpPr>
          <p:cNvPr id="4" name="Text 1"/>
          <p:cNvSpPr/>
          <p:nvPr/>
        </p:nvSpPr>
        <p:spPr>
          <a:xfrm>
            <a:off x="457200" y="44805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智慧財產權聲明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57150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資料各項內容之各項權利及智慧財產權（包括但不限於著作權、專利權、商標權等）均屬瑛聲科技企業股份有限公司所有。除非有明確表示，本資料之提供並無明示或暗示授權貴方任何著作權、專利權、商標權、商業機密或任何其他智慧財產權。</a:t>
            </a:r>
            <a:endParaRPr lang="en-US" sz="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66560"/>
            <a:ext cx="12191695" cy="91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Engsound Technology Enterprise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玉山銀行 Outbound 客服中心現代化專案 — 提案</dc:title>
  <dc:subject>PptxGenJS Presentation</dc:subject>
  <dc:creator>瑛聲科技企業股份有限公司</dc:creator>
  <cp:lastModifiedBy>瑛聲科技企業股份有限公司</cp:lastModifiedBy>
  <cp:revision>1</cp:revision>
  <dcterms:created xsi:type="dcterms:W3CDTF">2026-04-26T04:15:29Z</dcterms:created>
  <dcterms:modified xsi:type="dcterms:W3CDTF">2026-04-26T04:15:29Z</dcterms:modified>
</cp:coreProperties>
</file>