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828800"/>
            <a:ext cx="5029200" cy="5029200"/>
          </a:xfrm>
          <a:prstGeom prst="ellipse">
            <a:avLst/>
          </a:prstGeom>
          <a:ln w="9525">
            <a:solidFill>
              <a:srgbClr val="4A6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914400"/>
            <a:ext cx="3200400" cy="3200400"/>
          </a:xfrm>
          <a:prstGeom prst="ellipse">
            <a:avLst/>
          </a:prstGeom>
          <a:ln w="9525">
            <a:solidFill>
              <a:srgbClr val="ED89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-91440"/>
            <a:ext cx="1463040" cy="1463040"/>
          </a:xfrm>
          <a:prstGeom prst="ellipse">
            <a:avLst/>
          </a:prstGeom>
          <a:ln w="12700">
            <a:solidFill>
              <a:srgbClr val="38B2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D8936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spc="1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</a:t>
            </a:r>
            <a:pPr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·  人的聲音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</a:t>
            </a:r>
            <a:pPr indent="0" marL="0">
              <a:buNone/>
            </a:pPr>
            <a:r>
              <a:rPr lang="en-US" sz="18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</a:t>
            </a:r>
            <a:pPr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·  自覺的模組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會自己長大的客戶互動平台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is not a bigger product — it is a product that grows itself.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1371600" cy="0"/>
          </a:xfrm>
          <a:prstGeom prst="line">
            <a:avLst/>
          </a:prstGeom>
          <a:noFill/>
          <a:ln w="25400">
            <a:solidFill>
              <a:srgbClr val="ED89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瑛聲科技企業股份有限公司  ·  Engsound Technology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 ·  v1.0  ·  2026-04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4754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機密 —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D8936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·  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為什麼客服軟體需要被重新定義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客戶的需求每年都在新增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 但市場上的客服軟體仍以「功能清單」自我定義。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402336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74520"/>
            <a:ext cx="73152" cy="2606040"/>
          </a:xfrm>
          <a:prstGeom prst="rect">
            <a:avLst/>
          </a:prstGeom>
          <a:solidFill>
            <a:srgbClr val="C53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單體產品（Monolith）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「這不是我們的應用範圍。」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74320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客製化開發 — 升級後全炸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個月後再評估 — 客戶等不起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請等下一代產品 — 通常 2-3 年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範圍由功能清單定義，非由架構定義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874520"/>
            <a:ext cx="402336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874520"/>
            <a:ext cx="73152" cy="2606040"/>
          </a:xfrm>
          <a:prstGeom prst="rect">
            <a:avLst/>
          </a:prstGeom>
          <a:solidFill>
            <a:srgbClr val="38B2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2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平台思維（VOXEN）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「我們的架構已經為此預留了位置。」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274320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所有擴展都在預設好的「擴展點」內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加新模組，不影響其他客戶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PoC 6-12 週，Production 2-3 季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範圍由架構契約定義，能去任何客戶互動發生的地方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  ·  Customer Engagement Platform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2AC"/>
          </a:solidFill>
          <a:ln w="12700">
            <a:solidFill>
              <a:srgbClr val="38B2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  ·  WHAT THE NAME MEANS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VOXEN = VOX + ZEN  ·  命名即承諾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1508760"/>
            <a:ext cx="1188720" cy="1188720"/>
          </a:xfrm>
          <a:prstGeom prst="ellipse">
            <a:avLst/>
          </a:prstGeom>
          <a:solidFill>
            <a:srgbClr val="ED8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087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人的聲音  ·  Voice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客戶的聲音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座席的心聲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主管的決策意圖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系統的事件回聲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97480" y="17830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3291840" y="1508760"/>
            <a:ext cx="1188720" cy="1188720"/>
          </a:xfrm>
          <a:prstGeom prst="ellipse">
            <a:avLst/>
          </a:prstGeom>
          <a:solidFill>
            <a:srgbClr val="38B2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5087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自覺的模組  ·  Self-aware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31546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能力可被宣告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邊界清晰可被替換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隨時可被 AI Agent 呼叫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失敗安靜，不汙染上下文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4960" y="1417320"/>
            <a:ext cx="3383280" cy="3108960"/>
          </a:xfrm>
          <a:prstGeom prst="rect">
            <a:avLst/>
          </a:prstGeom>
          <a:solidFill>
            <a:srgbClr val="1A274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77840" y="1600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89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合在一起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77840" y="1920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577840" y="2542032"/>
            <a:ext cx="1188720" cy="0"/>
          </a:xfrm>
          <a:prstGeom prst="line">
            <a:avLst/>
          </a:prstGeom>
          <a:noFill/>
          <a:ln w="19050">
            <a:solidFill>
              <a:srgbClr val="38B2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26974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聽見 </a:t>
            </a:r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客戶與座席的真實意圖（VOX），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用一組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隨時可被 AI Agent 重組的自覺模組</a:t>
            </a:r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（ZEN）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回應這個意圖。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77840" y="4114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 命名不是包裝，是承諾。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  ·  Customer Engagement Platform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D8936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·  AT A GLANCE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架構一覽  ·  6 + 7 + 4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060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73152" cy="1280160"/>
          </a:xfrm>
          <a:prstGeom prst="rect">
            <a:avLst/>
          </a:prstGeom>
          <a:solidFill>
            <a:srgbClr val="2C52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1783080" y="15087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層主架構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83080" y="182880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 整合 → L6 體驗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325880"/>
            <a:ext cx="26060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325880"/>
            <a:ext cx="73152" cy="1280160"/>
          </a:xfrm>
          <a:prstGeom prst="rect">
            <a:avLst/>
          </a:prstGeom>
          <a:solidFill>
            <a:srgbClr val="ED8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3716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4663440" y="15087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橫切柱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182880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 資安 → C7 AI-Agent Native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325880"/>
            <a:ext cx="26060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325880"/>
            <a:ext cx="73152" cy="1280160"/>
          </a:xfrm>
          <a:prstGeom prst="rect">
            <a:avLst/>
          </a:prstGeom>
          <a:solidFill>
            <a:srgbClr val="38B2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3716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7543800" y="15087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平台營運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43800" y="182880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 開發者 → P4 合作夥伴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788920"/>
            <a:ext cx="5120640" cy="237744"/>
          </a:xfrm>
          <a:prstGeom prst="rect">
            <a:avLst/>
          </a:prstGeom>
          <a:solidFill>
            <a:srgbClr val="4299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7889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278892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體驗 Engagement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044952"/>
            <a:ext cx="5120640" cy="237744"/>
          </a:xfrm>
          <a:prstGeom prst="rect">
            <a:avLst/>
          </a:prstGeom>
          <a:solidFill>
            <a:srgbClr val="4FD1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0449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1560" y="3044952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編排 Orchestration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300984"/>
            <a:ext cx="5120640" cy="237744"/>
          </a:xfrm>
          <a:prstGeom prst="rect">
            <a:avLst/>
          </a:prstGeom>
          <a:solidFill>
            <a:srgbClr val="ED8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30098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" y="3300984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智能 Intelligence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557016"/>
            <a:ext cx="5120640" cy="237744"/>
          </a:xfrm>
          <a:prstGeom prst="rect">
            <a:avLst/>
          </a:prstGeom>
          <a:solidFill>
            <a:srgbClr val="9F7A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5570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51560" y="3557016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互動 Interaction Core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3813048"/>
            <a:ext cx="5120640" cy="237744"/>
          </a:xfrm>
          <a:prstGeom prst="rect">
            <a:avLst/>
          </a:prstGeom>
          <a:solidFill>
            <a:srgbClr val="48BB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81304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51560" y="381304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 Data &amp; Identity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069080"/>
            <a:ext cx="5120640" cy="237744"/>
          </a:xfrm>
          <a:prstGeom prst="rect">
            <a:avLst/>
          </a:prstGeom>
          <a:solidFill>
            <a:srgbClr val="4A55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06908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51560" y="406908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 Integration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852160" y="2788920"/>
            <a:ext cx="393192" cy="1517904"/>
          </a:xfrm>
          <a:prstGeom prst="rect">
            <a:avLst/>
          </a:prstGeom>
          <a:solidFill>
            <a:srgbClr val="2C5282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 rot="16200000">
            <a:off x="5806440" y="2788920"/>
            <a:ext cx="4846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Sec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91072" y="2788920"/>
            <a:ext cx="393192" cy="1517904"/>
          </a:xfrm>
          <a:prstGeom prst="rect">
            <a:avLst/>
          </a:prstGeom>
          <a:solidFill>
            <a:srgbClr val="2C5282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 rot="16200000">
            <a:off x="6245352" y="2788920"/>
            <a:ext cx="4846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Gov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29984" y="2788920"/>
            <a:ext cx="393192" cy="1517904"/>
          </a:xfrm>
          <a:prstGeom prst="rect">
            <a:avLst/>
          </a:prstGeom>
          <a:solidFill>
            <a:srgbClr val="2C5282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 rot="16200000">
            <a:off x="6684264" y="2788920"/>
            <a:ext cx="4846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Obs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168896" y="2788920"/>
            <a:ext cx="393192" cy="1517904"/>
          </a:xfrm>
          <a:prstGeom prst="rect">
            <a:avLst/>
          </a:prstGeom>
          <a:solidFill>
            <a:srgbClr val="2C5282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 rot="16200000">
            <a:off x="7123176" y="2788920"/>
            <a:ext cx="4846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MT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607808" y="2788920"/>
            <a:ext cx="393192" cy="1517904"/>
          </a:xfrm>
          <a:prstGeom prst="rect">
            <a:avLst/>
          </a:prstGeom>
          <a:solidFill>
            <a:srgbClr val="2C5282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 rot="16200000">
            <a:off x="7562088" y="2788920"/>
            <a:ext cx="4846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DevOps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046720" y="2788920"/>
            <a:ext cx="393192" cy="1517904"/>
          </a:xfrm>
          <a:prstGeom prst="rect">
            <a:avLst/>
          </a:prstGeom>
          <a:solidFill>
            <a:srgbClr val="2C5282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 rot="16200000">
            <a:off x="8001000" y="2788920"/>
            <a:ext cx="4846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 Global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485632" y="2788920"/>
            <a:ext cx="393192" cy="1517904"/>
          </a:xfrm>
          <a:prstGeom prst="rect">
            <a:avLst/>
          </a:prstGeom>
          <a:solidFill>
            <a:srgbClr val="ED8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 rot="16200000">
            <a:off x="8439912" y="2788920"/>
            <a:ext cx="4846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 Agent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48640" y="4398264"/>
            <a:ext cx="1245870" cy="237744"/>
          </a:xfrm>
          <a:prstGeom prst="rect">
            <a:avLst/>
          </a:prstGeom>
          <a:solidFill>
            <a:srgbClr val="38B2AC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4398264"/>
            <a:ext cx="12458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Developer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840230" y="4398264"/>
            <a:ext cx="1245870" cy="237744"/>
          </a:xfrm>
          <a:prstGeom prst="rect">
            <a:avLst/>
          </a:prstGeom>
          <a:solidFill>
            <a:srgbClr val="38B2AC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40230" y="4398264"/>
            <a:ext cx="12458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Commerce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131820" y="4398264"/>
            <a:ext cx="1245870" cy="237744"/>
          </a:xfrm>
          <a:prstGeom prst="rect">
            <a:avLst/>
          </a:prstGeom>
          <a:solidFill>
            <a:srgbClr val="38B2AC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31820" y="4398264"/>
            <a:ext cx="12458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Success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423410" y="4398264"/>
            <a:ext cx="1245870" cy="237744"/>
          </a:xfrm>
          <a:prstGeom prst="rect">
            <a:avLst/>
          </a:prstGeom>
          <a:solidFill>
            <a:srgbClr val="38B2AC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23410" y="4398264"/>
            <a:ext cx="12458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Partner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57200" y="467258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層（堆疊）  ·  7 柱（穿透，C7 為 AI-Agent Native）  ·  4 營運（底層支撐）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  ·  Customer Engagement Platform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D8936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  ·  THE DIFFERENTIATOR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AI-Agent Native  ·  第七柱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ED8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與其他平台的根本差異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4297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不是子系統 — 是平台特性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其他平台把 AI 當「附加模組」；VOXEN 把 AI 當「橫切柱」。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每個模組都暴露 MCP / Function 規格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可達任何一層、任何一個模組。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統一的 Tools Gateway / Memory / Planner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Runtime 是一級公民，不是 NPC。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STRIDE+A 威脅模型涵蓋 Agent 攻擊面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Injection、Tool Confusion、Memory Poisoning 全列為一級風險。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325880"/>
            <a:ext cx="374904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909560" y="2331720"/>
            <a:ext cx="777240" cy="777240"/>
          </a:xfrm>
          <a:prstGeom prst="ellipse">
            <a:avLst/>
          </a:prstGeom>
          <a:solidFill>
            <a:srgbClr val="ED893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0956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66360" y="1508760"/>
            <a:ext cx="2103120" cy="310896"/>
          </a:xfrm>
          <a:prstGeom prst="rect">
            <a:avLst/>
          </a:prstGeom>
          <a:solidFill>
            <a:srgbClr val="4299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15087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L6  體驗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87768" y="1664208"/>
            <a:ext cx="621792" cy="1051560"/>
          </a:xfrm>
          <a:prstGeom prst="line">
            <a:avLst/>
          </a:prstGeom>
          <a:noFill/>
          <a:ln w="12700">
            <a:solidFill>
              <a:srgbClr val="ED8936"/>
            </a:solidFill>
            <a:prstDash val="dash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66360" y="1883664"/>
            <a:ext cx="2103120" cy="310896"/>
          </a:xfrm>
          <a:prstGeom prst="rect">
            <a:avLst/>
          </a:prstGeom>
          <a:solidFill>
            <a:srgbClr val="4FD1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188366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L5  編排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87768" y="2039112"/>
            <a:ext cx="621792" cy="676656"/>
          </a:xfrm>
          <a:prstGeom prst="line">
            <a:avLst/>
          </a:prstGeom>
          <a:noFill/>
          <a:ln w="12700">
            <a:solidFill>
              <a:srgbClr val="ED8936"/>
            </a:solidFill>
            <a:prstDash val="dash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66360" y="2258568"/>
            <a:ext cx="2103120" cy="310896"/>
          </a:xfrm>
          <a:prstGeom prst="rect">
            <a:avLst/>
          </a:prstGeom>
          <a:solidFill>
            <a:srgbClr val="ED8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225856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L4  智能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87768" y="2414016"/>
            <a:ext cx="621792" cy="301752"/>
          </a:xfrm>
          <a:prstGeom prst="line">
            <a:avLst/>
          </a:prstGeom>
          <a:noFill/>
          <a:ln w="12700">
            <a:solidFill>
              <a:srgbClr val="ED8936"/>
            </a:solidFill>
            <a:prstDash val="dash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66360" y="2633472"/>
            <a:ext cx="2103120" cy="310896"/>
          </a:xfrm>
          <a:prstGeom prst="rect">
            <a:avLst/>
          </a:prstGeom>
          <a:solidFill>
            <a:srgbClr val="9F7A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263347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L3  互動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87768" y="2788920"/>
            <a:ext cx="621792" cy="-73152"/>
          </a:xfrm>
          <a:prstGeom prst="line">
            <a:avLst/>
          </a:prstGeom>
          <a:noFill/>
          <a:ln w="12700">
            <a:solidFill>
              <a:srgbClr val="ED8936"/>
            </a:solidFill>
            <a:prstDash val="dash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166360" y="3008376"/>
            <a:ext cx="2103120" cy="310896"/>
          </a:xfrm>
          <a:prstGeom prst="rect">
            <a:avLst/>
          </a:prstGeom>
          <a:solidFill>
            <a:srgbClr val="48BB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300837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L2  資料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287768" y="3163824"/>
            <a:ext cx="621792" cy="-448056"/>
          </a:xfrm>
          <a:prstGeom prst="line">
            <a:avLst/>
          </a:prstGeom>
          <a:noFill/>
          <a:ln w="12700">
            <a:solidFill>
              <a:srgbClr val="ED8936"/>
            </a:solidFill>
            <a:prstDash val="dash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166360" y="3383280"/>
            <a:ext cx="2103120" cy="310896"/>
          </a:xfrm>
          <a:prstGeom prst="rect">
            <a:avLst/>
          </a:prstGeom>
          <a:solidFill>
            <a:srgbClr val="4A55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33832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  整合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287768" y="3538728"/>
            <a:ext cx="621792" cy="-822960"/>
          </a:xfrm>
          <a:prstGeom prst="line">
            <a:avLst/>
          </a:prstGeom>
          <a:noFill/>
          <a:ln w="12700">
            <a:solidFill>
              <a:srgbClr val="ED8936"/>
            </a:solidFill>
            <a:prstDash val="dash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5166360" y="41605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每層皆暴露 MCP / Function — Agent 可達任一層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  ·  Customer Engagement Platform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2AC"/>
          </a:solidFill>
          <a:ln w="12700">
            <a:solidFill>
              <a:srgbClr val="38B2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EXTENSIBILITY  ·  FIVE COMMITMENTS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五大擴展承諾  ·  Open Enumeration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 Adapter 群是開放的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7190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 9 群（PBX / CRM / AI / Identity / 等）— 未來可加 Edge / IoT / Industry-specific。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502920" cy="50292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L3 Channel 不限通訊距離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7706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 8 channels 全是「遠距」— 未來可加實體門市、AR/VR、車載、智能家居。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502920" cy="50292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L4 智能是多模態的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82219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目前偏 NLP — 未來可加 Computer Vision、生物資訊、空間智能等任何 AI 能力。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502920" cy="50292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0352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L6 角色不限「桌前」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03520" y="17190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目前角色偏內部營運者 — 未來可加 Field Worker：眼鏡、頭盔、車載、急救現場。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423160"/>
            <a:ext cx="502920" cy="50292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0352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橫切柱可被擴充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0" y="27706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 7 柱 — 未來可加 C8 Sustainability、C9 Accessibility Beyond、C10 AI Ethics Deep。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474720"/>
            <a:ext cx="4023360" cy="1188720"/>
          </a:xfrm>
          <a:prstGeom prst="rect">
            <a:avLst/>
          </a:prstGeom>
          <a:solidFill>
            <a:srgbClr val="1A274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2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關鍵差異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886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每一條承諾都對應「該層的明確擴展點」 — 加新模組不需動現有層的核心結構。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  ·  Customer Engagement Platform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D8936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  ·  A FUTURE-PROOF SCENARIO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證明題  ·  AI 眼鏡銷售情境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門市銷售員配 AI 眼鏡：即時辨識客戶看的商品、AR 顯示資訊、全程錄影、事後 AI 質檢。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6126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10972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需要的能力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VOXEN 對應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修補成本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眼鏡 SDK 整合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L1 加 Edge Adapter 群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8B2A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視訊 / 音訊串流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L3 既有 Media Pipeline + Video Channel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8B2A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零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客戶 360 統一視圖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L2 既有，Channel-agnostic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8B2A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零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Computer Vision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L4 加 Vision 模組群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893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銷售員端體驗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L6 加 Field Companion 角色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893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事後 AI 質檢評分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L6 QM + L4 AutoScore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893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低-中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12280" y="1783080"/>
            <a:ext cx="1920240" cy="2331720"/>
          </a:xfrm>
          <a:prstGeom prst="rect">
            <a:avLst/>
          </a:prstGeom>
          <a:solidFill>
            <a:srgbClr val="1A274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12280" y="19202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6400" dirty="0"/>
          </a:p>
        </p:txBody>
      </p:sp>
      <p:sp>
        <p:nvSpPr>
          <p:cNvPr id="9" name="Text 6"/>
          <p:cNvSpPr/>
          <p:nvPr/>
        </p:nvSpPr>
        <p:spPr>
          <a:xfrm>
            <a:off x="6812280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項所需能力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269480" y="3154680"/>
            <a:ext cx="1005840" cy="0"/>
          </a:xfrm>
          <a:prstGeom prst="line">
            <a:avLst/>
          </a:prstGeom>
          <a:noFill/>
          <a:ln w="15240">
            <a:solidFill>
              <a:srgbClr val="38B2A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12280" y="3246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6812280" y="3749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項需打掉重練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solidFill>
            <a:srgbClr val="2C52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結論：所有擴展都在預設好的擴展點內。架構零打掉重練。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  ·  Customer Engagement Platform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D8936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POINT  ·  500-SEAT BANK CALL CENTER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銀行落地  ·  Phase 6 首戰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8745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173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席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銀行客服中心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325880"/>
            <a:ext cx="18745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97480" y="14173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個月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697480" y="1920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SIT 期限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18745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4173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個月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846320" y="1920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Production 上線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325880"/>
            <a:ext cx="18745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95160" y="14173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99.95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995160" y="1920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SLA 可用性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06040"/>
            <a:ext cx="54864" cy="868680"/>
          </a:xfrm>
          <a:prstGeom prst="rect">
            <a:avLst/>
          </a:prstGeom>
          <a:solidFill>
            <a:srgbClr val="38B2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26791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PCI Pause-Resume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" y="2971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錄音於信用卡輸入時段自動靜音，避免 CVV 落地。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37560" y="260604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37560" y="2606040"/>
            <a:ext cx="54864" cy="868680"/>
          </a:xfrm>
          <a:prstGeom prst="rect">
            <a:avLst/>
          </a:prstGeom>
          <a:solidFill>
            <a:srgbClr val="38B2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02152" y="26791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自由座席（Hot-desking）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02152" y="2971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LDAP 整合 — 任一終端登入即取得個人配置。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260604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2606040"/>
            <a:ext cx="54864" cy="868680"/>
          </a:xfrm>
          <a:prstGeom prst="rect">
            <a:avLst/>
          </a:prstGeom>
          <a:solidFill>
            <a:srgbClr val="38B2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26791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 / SSO 整合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82512" y="2971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Kerberos + SAML，符合行內身分管理規範。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61188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611880"/>
            <a:ext cx="54864" cy="868680"/>
          </a:xfrm>
          <a:prstGeom prst="rect">
            <a:avLst/>
          </a:prstGeom>
          <a:solidFill>
            <a:srgbClr val="38B2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3685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混合部署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792" y="3977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On-prem 核心 + Cloud AI 推理，符合資料留岸。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37560" y="361188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37560" y="3611880"/>
            <a:ext cx="54864" cy="868680"/>
          </a:xfrm>
          <a:prstGeom prst="rect">
            <a:avLst/>
          </a:prstGeom>
          <a:solidFill>
            <a:srgbClr val="38B2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02152" y="3685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不可篡改稽核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502152" y="3977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Audit Log 雜湊鏈 + 外部時間戳。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17920" y="361188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0" y="3611880"/>
            <a:ext cx="54864" cy="868680"/>
          </a:xfrm>
          <a:prstGeom prst="rect">
            <a:avLst/>
          </a:prstGeom>
          <a:solidFill>
            <a:srgbClr val="38B2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82512" y="3685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Voice Bot 轉真人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82512" y="3977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全程上下文移交，客戶不需重述問題。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  ·  Customer Engagement Platform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D8936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 ·  PHASED DELIVERY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Roadmap  ·  Phase 6 → Phase 9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7863840" cy="0"/>
          </a:xfrm>
          <a:prstGeom prst="line">
            <a:avLst/>
          </a:prstGeom>
          <a:noFill/>
          <a:ln w="25400">
            <a:solidFill>
              <a:srgbClr val="CBD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2834640"/>
            <a:ext cx="182880" cy="182880"/>
          </a:xfrm>
          <a:prstGeom prst="ellipse">
            <a:avLst/>
          </a:prstGeom>
          <a:solidFill>
            <a:srgbClr val="2C52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77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H1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17830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3246120"/>
            <a:ext cx="1783080" cy="54864"/>
          </a:xfrm>
          <a:prstGeom prst="rect">
            <a:avLst/>
          </a:prstGeom>
          <a:solidFill>
            <a:srgbClr val="2C52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3375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5844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銀行首戰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88620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500 席 SIT/UAT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PCI 暫停錄音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自由座席 + AD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66160" y="2834640"/>
            <a:ext cx="182880" cy="182880"/>
          </a:xfrm>
          <a:prstGeom prst="ellipse">
            <a:avLst/>
          </a:prstGeom>
          <a:solidFill>
            <a:srgbClr val="ED893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2377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H2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88920" y="3246120"/>
            <a:ext cx="17830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88920" y="3246120"/>
            <a:ext cx="1783080" cy="54864"/>
          </a:xfrm>
          <a:prstGeom prst="rect">
            <a:avLst/>
          </a:prstGeom>
          <a:solidFill>
            <a:srgbClr val="ED8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33375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35844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智能擴張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6080" y="388620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Voice Bot 量產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Coach 即時建議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Multi-tenant SaaS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15000" y="2834640"/>
            <a:ext cx="182880" cy="182880"/>
          </a:xfrm>
          <a:prstGeom prst="ellipse">
            <a:avLst/>
          </a:prstGeom>
          <a:solidFill>
            <a:srgbClr val="38B2A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377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H1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3246120"/>
            <a:ext cx="17830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3246120"/>
            <a:ext cx="1783080" cy="54864"/>
          </a:xfrm>
          <a:prstGeom prst="rect">
            <a:avLst/>
          </a:prstGeom>
          <a:solidFill>
            <a:srgbClr val="38B2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33375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74920" y="35844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Runtime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74920" y="388620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Tools Gateway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Memory + Planner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可達各層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863840" y="2834640"/>
            <a:ext cx="182880" cy="182880"/>
          </a:xfrm>
          <a:prstGeom prst="ellipse">
            <a:avLst/>
          </a:prstGeom>
          <a:solidFill>
            <a:srgbClr val="4A6FA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86600" y="2377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H2+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086600" y="3246120"/>
            <a:ext cx="17830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086600" y="3246120"/>
            <a:ext cx="1783080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33375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23760" y="35844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跨域擴展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23760" y="388620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Edge / IoT 試點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Vision 模組群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Field Worker 角色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每一階段獨立交付、可量產。後一階段的工作不阻塞前一階段的 Production。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  ·  Customer Engagement Platform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D8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 ·  THREE PROMISES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給三類受眾的承諾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06040" cy="2697480"/>
          </a:xfrm>
          <a:prstGeom prst="rect">
            <a:avLst/>
          </a:prstGeom>
          <a:solidFill>
            <a:srgbClr val="243557"/>
          </a:solidFill>
          <a:ln w="9525">
            <a:solidFill>
              <a:srgbClr val="2F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2606040" cy="91440"/>
          </a:xfrm>
          <a:prstGeom prst="rect">
            <a:avLst/>
          </a:prstGeom>
          <a:solidFill>
            <a:srgbClr val="ED8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INVESTORS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給投資者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640080" cy="0"/>
          </a:xfrm>
          <a:prstGeom prst="line">
            <a:avLst/>
          </a:prstGeom>
          <a:noFill/>
          <a:ln w="19050">
            <a:solidFill>
              <a:srgbClr val="ED89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4320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0AE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TAM 不只是 30 億 / 年的客服軟體市場，而是 120 億 / 年的「企業客戶互動平台」 — 因為架構讓我們能去任何客戶互動發生的地方。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37560" y="1691640"/>
            <a:ext cx="2606040" cy="2697480"/>
          </a:xfrm>
          <a:prstGeom prst="rect">
            <a:avLst/>
          </a:prstGeom>
          <a:solidFill>
            <a:srgbClr val="243557"/>
          </a:solidFill>
          <a:ln w="9525">
            <a:solidFill>
              <a:srgbClr val="2F40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691640"/>
            <a:ext cx="2606040" cy="91440"/>
          </a:xfrm>
          <a:prstGeom prst="rect">
            <a:avLst/>
          </a:prstGeom>
          <a:solidFill>
            <a:srgbClr val="38B2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920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PARTNERS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044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給合作夥伴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520440" y="2606040"/>
            <a:ext cx="640080" cy="0"/>
          </a:xfrm>
          <a:prstGeom prst="line">
            <a:avLst/>
          </a:prstGeom>
          <a:noFill/>
          <a:ln w="19050">
            <a:solidFill>
              <a:srgbClr val="38B2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274320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0AE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加新 Adapter / Channel / 角色不需動核心。共建模組可被 Marketplace 收錄，分潤共生。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1691640"/>
            <a:ext cx="2606040" cy="2697480"/>
          </a:xfrm>
          <a:prstGeom prst="rect">
            <a:avLst/>
          </a:prstGeom>
          <a:solidFill>
            <a:srgbClr val="243557"/>
          </a:solidFill>
          <a:ln w="9525">
            <a:solidFill>
              <a:srgbClr val="2F40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691640"/>
            <a:ext cx="2606040" cy="91440"/>
          </a:xfrm>
          <a:prstGeom prst="rect">
            <a:avLst/>
          </a:prstGeom>
          <a:solidFill>
            <a:srgbClr val="4A6F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920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TEAM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給新進員工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0" y="2606040"/>
            <a:ext cx="64008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274320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0AE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我們做的這 70 個模組，是站在一個能再長 700 個的骨架上。寫程式時心裡有架構契約，未來就不會再寫一次。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VOXEN  ·  會自己長大的客戶互動平台。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© 2026 瑛聲科技企業股份有限公司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Engsound Technology Enterprise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VOXEN — A Customer Engagement Platform</dc:title>
  <dc:subject>PptxGenJS Presentation</dc:subject>
  <dc:creator>瑛聲科技企業股份有限公司</dc:creator>
  <cp:lastModifiedBy>瑛聲科技企業股份有限公司</cp:lastModifiedBy>
  <cp:revision>1</cp:revision>
  <dcterms:created xsi:type="dcterms:W3CDTF">2026-04-25T06:43:27Z</dcterms:created>
  <dcterms:modified xsi:type="dcterms:W3CDTF">2026-04-25T06:43:27Z</dcterms:modified>
</cp:coreProperties>
</file>