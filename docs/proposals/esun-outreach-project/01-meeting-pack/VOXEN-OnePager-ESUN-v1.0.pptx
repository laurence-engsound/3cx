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0E5066"/>
          </a:solidFill>
          <a:ln w="12700">
            <a:solidFill>
              <a:srgbClr val="0E506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64592"/>
            <a:ext cx="86868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972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VOXEN + 3CX  ·  玉山 Outreach 案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E0D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450 席外撥替代 Genesys Engage  ·  Executive Brief  ·  v1.0  ·  瑛聲科技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988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整體架構速覽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B8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VOXEN 編排 + 3CX SIP 平台 + 沿用瑛聲既有資產（OPEN/NAS/AD/CRM）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783080"/>
            <a:ext cx="1828800" cy="640080"/>
          </a:xfrm>
          <a:prstGeom prst="rect">
            <a:avLst/>
          </a:prstGeom>
          <a:solidFill>
            <a:srgbClr val="B8E0D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使用者層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40280" y="1783080"/>
            <a:ext cx="1161288" cy="640080"/>
          </a:xfrm>
          <a:prstGeom prst="rect">
            <a:avLst/>
          </a:prstGeom>
          <a:solidFill>
            <a:srgbClr val="B8E0DD"/>
          </a:solidFill>
          <a:ln w="6350">
            <a:solidFill>
              <a:srgbClr val="D0D0D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450 外撥座席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47288" y="1783080"/>
            <a:ext cx="1161288" cy="640080"/>
          </a:xfrm>
          <a:prstGeom prst="rect">
            <a:avLst/>
          </a:prstGeom>
          <a:solidFill>
            <a:srgbClr val="B8E0DD"/>
          </a:solidFill>
          <a:ln w="6350">
            <a:solidFill>
              <a:srgbClr val="D0D0D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主管 / 隊長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54296" y="1783080"/>
            <a:ext cx="1161288" cy="640080"/>
          </a:xfrm>
          <a:prstGeom prst="rect">
            <a:avLst/>
          </a:prstGeom>
          <a:solidFill>
            <a:srgbClr val="B8E0DD"/>
          </a:solidFill>
          <a:ln w="6350">
            <a:solidFill>
              <a:srgbClr val="D0D0D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61304" y="1783080"/>
            <a:ext cx="1161288" cy="640080"/>
          </a:xfrm>
          <a:prstGeom prst="rect">
            <a:avLst/>
          </a:prstGeom>
          <a:solidFill>
            <a:srgbClr val="B8E0DD"/>
          </a:solidFill>
          <a:ln w="6350">
            <a:solidFill>
              <a:srgbClr val="D0D0D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質檢 / IT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2560320"/>
            <a:ext cx="1828800" cy="640080"/>
          </a:xfrm>
          <a:prstGeom prst="rect">
            <a:avLst/>
          </a:prstGeom>
          <a:solidFill>
            <a:srgbClr val="2C9889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體驗層（沿用 + 增強）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240280" y="2560320"/>
            <a:ext cx="1161288" cy="640080"/>
          </a:xfrm>
          <a:prstGeom prst="rect">
            <a:avLst/>
          </a:prstGeom>
          <a:solidFill>
            <a:srgbClr val="2C9889"/>
          </a:solidFill>
          <a:ln w="6350">
            <a:solidFill>
              <a:srgbClr val="2C988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OPEN/TeleSA UI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47288" y="2560320"/>
            <a:ext cx="1161288" cy="640080"/>
          </a:xfrm>
          <a:prstGeom prst="rect">
            <a:avLst/>
          </a:prstGeom>
          <a:solidFill>
            <a:srgbClr val="2C9889"/>
          </a:solidFill>
          <a:ln w="6350">
            <a:solidFill>
              <a:srgbClr val="2C988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+ 3CX Call Control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54296" y="2560320"/>
            <a:ext cx="1161288" cy="640080"/>
          </a:xfrm>
          <a:prstGeom prst="rect">
            <a:avLst/>
          </a:prstGeom>
          <a:solidFill>
            <a:srgbClr val="2C9889"/>
          </a:solidFill>
          <a:ln w="6350">
            <a:solidFill>
              <a:srgbClr val="2C988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Whisper / Barge-in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61304" y="2560320"/>
            <a:ext cx="1161288" cy="640080"/>
          </a:xfrm>
          <a:prstGeom prst="rect">
            <a:avLst/>
          </a:prstGeom>
          <a:solidFill>
            <a:srgbClr val="2C9889"/>
          </a:solidFill>
          <a:ln w="6350">
            <a:solidFill>
              <a:srgbClr val="2C988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Hot-desking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3337560"/>
            <a:ext cx="1828800" cy="640080"/>
          </a:xfrm>
          <a:prstGeom prst="rect">
            <a:avLst/>
          </a:prstGeom>
          <a:solidFill>
            <a:srgbClr val="0E5066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VOXEN + 3CX（新部署 / 替換）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240280" y="3337560"/>
            <a:ext cx="1161288" cy="640080"/>
          </a:xfrm>
          <a:prstGeom prst="rect">
            <a:avLst/>
          </a:prstGeom>
          <a:solidFill>
            <a:srgbClr val="0E5066"/>
          </a:solidFill>
          <a:ln w="6350">
            <a:solidFill>
              <a:srgbClr val="0E506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VOXEN 編排層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47288" y="3337560"/>
            <a:ext cx="1161288" cy="640080"/>
          </a:xfrm>
          <a:prstGeom prst="rect">
            <a:avLst/>
          </a:prstGeom>
          <a:solidFill>
            <a:srgbClr val="0E5066"/>
          </a:solidFill>
          <a:ln w="6350">
            <a:solidFill>
              <a:srgbClr val="0E506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3CX V20 PBX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54296" y="3337560"/>
            <a:ext cx="1161288" cy="640080"/>
          </a:xfrm>
          <a:prstGeom prst="rect">
            <a:avLst/>
          </a:prstGeom>
          <a:solidFill>
            <a:srgbClr val="0E5066"/>
          </a:solidFill>
          <a:ln w="6350">
            <a:solidFill>
              <a:srgbClr val="0E506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Agent 整合介面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61304" y="3337560"/>
            <a:ext cx="1161288" cy="640080"/>
          </a:xfrm>
          <a:prstGeom prst="rect">
            <a:avLst/>
          </a:prstGeom>
          <a:solidFill>
            <a:srgbClr val="0E5066"/>
          </a:solidFill>
          <a:ln w="6350">
            <a:solidFill>
              <a:srgbClr val="0E506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錄音 → NAS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114800"/>
            <a:ext cx="1828800" cy="640080"/>
          </a:xfrm>
          <a:prstGeom prst="rect">
            <a:avLst/>
          </a:prstGeom>
          <a:solidFill>
            <a:srgbClr val="EAEAEA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玉山環境（既有資產 — 全部沿用）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240280" y="4114800"/>
            <a:ext cx="1161288" cy="640080"/>
          </a:xfrm>
          <a:prstGeom prst="rect">
            <a:avLst/>
          </a:prstGeom>
          <a:solidFill>
            <a:srgbClr val="EAEAEA"/>
          </a:solidFill>
          <a:ln w="6350">
            <a:solidFill>
              <a:srgbClr val="D0D0D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玉山 NAS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447288" y="4114800"/>
            <a:ext cx="1161288" cy="640080"/>
          </a:xfrm>
          <a:prstGeom prst="rect">
            <a:avLst/>
          </a:prstGeom>
          <a:solidFill>
            <a:srgbClr val="EAEAEA"/>
          </a:solidFill>
          <a:ln w="6350">
            <a:solidFill>
              <a:srgbClr val="D0D0D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玉山 AD/SSO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54296" y="4114800"/>
            <a:ext cx="1161288" cy="640080"/>
          </a:xfrm>
          <a:prstGeom prst="rect">
            <a:avLst/>
          </a:prstGeom>
          <a:solidFill>
            <a:srgbClr val="EAEAEA"/>
          </a:solidFill>
          <a:ln w="6350">
            <a:solidFill>
              <a:srgbClr val="D0D0D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玉山 CRM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861304" y="4114800"/>
            <a:ext cx="1161288" cy="640080"/>
          </a:xfrm>
          <a:prstGeom prst="rect">
            <a:avLst/>
          </a:prstGeom>
          <a:solidFill>
            <a:srgbClr val="EAEAEA"/>
          </a:solidFill>
          <a:ln w="6350">
            <a:solidFill>
              <a:srgbClr val="D0D0D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SIP Trunk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B8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替換  Genesys → 3CX V20      ■ 新部署  VOXEN 平台      ■ 沿用  瑛聲既有資產 + 玉山環境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65760" y="5760720"/>
            <a:ext cx="640080" cy="64008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2C988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5760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143000" y="5760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988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替換時程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2514600" y="5760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2026-06-30 Go-live · 11-01 Genesys EOL 前 4 個月 buffer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43000" y="6108192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三階段遷移：M1 簽約 (3月) → Pilot 30-50 席 (5月) → 雙軌驗證 (5-6月) → 全量上線 (6月底) → 4 個月併行 → 11月退役 Genesys。每階段皆可 rollback，玉山保留 say-no 權利。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65760" y="7251192"/>
            <a:ext cx="640080" cy="640080"/>
          </a:xfrm>
          <a:prstGeom prst="ellipse">
            <a:avLst/>
          </a:prstGeom>
          <a:solidFill>
            <a:srgbClr val="0E5066"/>
          </a:solidFill>
          <a:ln w="12700">
            <a:solidFill>
              <a:srgbClr val="0E50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7251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1143000" y="7251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50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預算量級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2514600" y="72511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TCO（3 年）顯著低於自建與商業 PBX 兩條替代路徑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43000" y="7598664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3CX 訂閱 + 瑛聲建置/維護服務 = 百萬級。自建路徑（人月+SBC+合規）= 千萬級且 18-24 個月不可控。商業 PBX（Avaya/Cisco）= 授權費跳 1.5-2 倍，且 vendor lock-in。授權三模式（PerYear / PerSeat / Hybrid）NDA 後深談。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65760" y="8741664"/>
            <a:ext cx="640080" cy="640080"/>
          </a:xfrm>
          <a:prstGeom prst="ellipse">
            <a:avLst/>
          </a:prstGeom>
          <a:solidFill>
            <a:srgbClr val="10A0A7"/>
          </a:solidFill>
          <a:ln w="12700">
            <a:solidFill>
              <a:srgbClr val="10A0A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87416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1143000" y="8741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A0A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風險吸收方案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2514600" y="8741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Source Code Escrow + 瑛聲 Premium Partner 雙層保險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43000" y="9089136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53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Source Code Escrow（Iron Mountain 等公證機構）解決 vendor lock-in 疑慮。瑛聲身為 3CX Premium Partner 提供 L1/L2 在台灣 + L3 直通原廠，單點責任、不需玉山管 vendor 接力。Pilot 失敗瑛聲承擔損失。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65760" y="10241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瑛聲科技企業股份有限公司   ·   E.SUN Bank Outreach Project   ·   2026 Apr 25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394960" y="10241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E.SUN review only</a:t>
            </a:r>
            <a:endParaRPr lang="en-US" sz="80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61320"/>
            <a:ext cx="7562088" cy="1188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2026-04-26T05:01:30Z</dcterms:created>
  <dcterms:modified xsi:type="dcterms:W3CDTF">2026-04-26T05:01:30Z</dcterms:modified>
</cp:coreProperties>
</file>